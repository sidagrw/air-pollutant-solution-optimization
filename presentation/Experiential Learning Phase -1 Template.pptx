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8"/>
  </p:notesMasterIdLst>
  <p:sldIdLst>
    <p:sldId id="256" r:id="rId2"/>
    <p:sldId id="258" r:id="rId3"/>
    <p:sldId id="259" r:id="rId4"/>
    <p:sldId id="260" r:id="rId5"/>
    <p:sldId id="272" r:id="rId6"/>
    <p:sldId id="261" r:id="rId7"/>
    <p:sldId id="262" r:id="rId8"/>
    <p:sldId id="263" r:id="rId9"/>
    <p:sldId id="264" r:id="rId10"/>
    <p:sldId id="265" r:id="rId11"/>
    <p:sldId id="266" r:id="rId12"/>
    <p:sldId id="267" r:id="rId13"/>
    <p:sldId id="268" r:id="rId14"/>
    <p:sldId id="271" r:id="rId15"/>
    <p:sldId id="269" r:id="rId16"/>
    <p:sldId id="270" r:id="rId17"/>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67F5B3-FBAF-4E3E-CD31-2ABF9DE86159}" v="762" dt="2026-03-24T16:34:26.930"/>
    <p1510:client id="{4C9BD7AC-17AD-FEEE-BDC2-92DC2A7988E6}" v="457" dt="2026-03-24T16:26:37.983"/>
    <p1510:client id="{6462CDC0-75C1-2721-FA29-AE8F6AA76661}" v="66" dt="2026-03-24T16:36:40.141"/>
    <p1510:client id="{CFB6BF0D-DDE9-406F-8FBA-9C1D3C7A60FF}" v="1088" dt="2026-03-24T16:32:19.201"/>
    <p1510:client id="{D3826215-CA8F-8610-7777-3C0736401962}" v="82" dt="2026-03-24T16:29:11.4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719"/>
  </p:normalViewPr>
  <p:slideViewPr>
    <p:cSldViewPr snapToGrid="0">
      <p:cViewPr>
        <p:scale>
          <a:sx n="82" d="100"/>
          <a:sy n="82" d="100"/>
        </p:scale>
        <p:origin x="1720" y="10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484CDFF6-27F2-80F4-6A85-0A8142005DA9}"/>
            </a:ext>
          </a:extLst>
        </p:cNvPr>
        <p:cNvGrpSpPr/>
        <p:nvPr/>
      </p:nvGrpSpPr>
      <p:grpSpPr>
        <a:xfrm>
          <a:off x="0" y="0"/>
          <a:ext cx="0" cy="0"/>
          <a:chOff x="0" y="0"/>
          <a:chExt cx="0" cy="0"/>
        </a:xfrm>
      </p:grpSpPr>
      <p:sp>
        <p:nvSpPr>
          <p:cNvPr id="220" name="Google Shape;220;p14:notes">
            <a:extLst>
              <a:ext uri="{FF2B5EF4-FFF2-40B4-BE49-F238E27FC236}">
                <a16:creationId xmlns:a16="http://schemas.microsoft.com/office/drawing/2014/main" id="{1D6080D5-8D80-79FE-2C4F-BCDE263A1762}"/>
              </a:ext>
            </a:extLst>
          </p:cNvPr>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a:extLst>
              <a:ext uri="{FF2B5EF4-FFF2-40B4-BE49-F238E27FC236}">
                <a16:creationId xmlns:a16="http://schemas.microsoft.com/office/drawing/2014/main" id="{C5E9EE94-F271-6084-25D2-499EA65A6893}"/>
              </a:ext>
            </a:extLst>
          </p:cNvPr>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a:extLst>
              <a:ext uri="{FF2B5EF4-FFF2-40B4-BE49-F238E27FC236}">
                <a16:creationId xmlns:a16="http://schemas.microsoft.com/office/drawing/2014/main" id="{F14096B1-CBD4-F3CB-3D9A-7105D545640B}"/>
              </a:ext>
            </a:extLst>
          </p:cNvPr>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extLst>
      <p:ext uri="{BB962C8B-B14F-4D97-AF65-F5344CB8AC3E}">
        <p14:creationId xmlns:p14="http://schemas.microsoft.com/office/powerpoint/2010/main" val="2350663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229961"/>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algn="ctr"/>
            <a:r>
              <a:rPr lang="en-US" sz="2800" b="1">
                <a:solidFill>
                  <a:schemeClr val="lt1"/>
                </a:solidFill>
                <a:latin typeface="Bookman Old Style"/>
                <a:ea typeface="Bookman Old Style"/>
                <a:cs typeface="Bookman Old Style"/>
                <a:sym typeface="Bookman Old Style"/>
              </a:rPr>
              <a:t>Air Based Pollutant Solution Optimization with Predictive Modeling </a:t>
            </a:r>
            <a:endParaRPr lang="en-US" sz="2800">
              <a:solidFill>
                <a:schemeClr val="lt1"/>
              </a:solidFill>
            </a:endParaRPr>
          </a:p>
        </p:txBody>
      </p:sp>
      <p:sp>
        <p:nvSpPr>
          <p:cNvPr id="129" name="Google Shape;129;p1"/>
          <p:cNvSpPr/>
          <p:nvPr/>
        </p:nvSpPr>
        <p:spPr>
          <a:xfrm>
            <a:off x="349045" y="5288583"/>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FF0000"/>
                </a:solidFill>
                <a:latin typeface="Bookman Old Style"/>
                <a:ea typeface="Bookman Old Style"/>
                <a:cs typeface="Bookman Old Style"/>
                <a:sym typeface="Bookman Old Style"/>
              </a:rPr>
              <a:t>Urban Development, Mobility &amp; Smart Cities</a:t>
            </a:r>
            <a:endParaRPr lang="en-IN">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a:solidFill>
                  <a:srgbClr val="FF0000"/>
                </a:solidFill>
              </a:rPr>
              <a:t>Introduction</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Literature Review</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Problem Definition</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Objectives</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Methodology</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Proposed Outcomes</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Timeline of the project</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Conclusion</a:t>
            </a:r>
            <a:endParaRPr>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a:solidFill>
                  <a:srgbClr val="FF0000"/>
                </a:solidFill>
              </a:rPr>
              <a:t>References</a:t>
            </a:r>
            <a:endParaRPr>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lnSpcReduction="10000"/>
          </a:bodyPr>
          <a:lstStyle/>
          <a:p>
            <a:pPr marL="635000" indent="-457200"/>
            <a:r>
              <a:rPr lang="en-US"/>
              <a:t>This project aims to optimize solutions to reduce air pollutant concentrations, and provide appropriate simulations for future AQI parameters after solution implementation.</a:t>
            </a:r>
          </a:p>
          <a:p>
            <a:endParaRPr lang="en-IN"/>
          </a:p>
          <a:p>
            <a:r>
              <a:rPr lang="en-US"/>
              <a:t>Urban Bengaluru has varying AQI because of tall buildings, less green space, along with many industrial areas having higher AQI than residential spaces. </a:t>
            </a:r>
          </a:p>
          <a:p>
            <a:endParaRPr lang="en-US"/>
          </a:p>
          <a:p>
            <a:r>
              <a:rPr lang="en-US"/>
              <a:t>As of late March 2026, Bengaluru's Air Quality Index (AQI) generally fluctuates between </a:t>
            </a:r>
            <a:r>
              <a:rPr lang="en-US" b="1"/>
              <a:t>65 and 100+</a:t>
            </a:r>
            <a:r>
              <a:rPr lang="en-US"/>
              <a:t>, often landing in the "Moderate" category (51–100) or occasionally "Poor" (101–200) depending on the specific location and time.</a:t>
            </a: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3</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161" name="Google Shape;161;p6"/>
          <p:cNvSpPr txBox="1"/>
          <p:nvPr/>
        </p:nvSpPr>
        <p:spPr>
          <a:xfrm>
            <a:off x="1710268" y="278801"/>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graphicFrame>
        <p:nvGraphicFramePr>
          <p:cNvPr id="3" name="Table 2">
            <a:extLst>
              <a:ext uri="{FF2B5EF4-FFF2-40B4-BE49-F238E27FC236}">
                <a16:creationId xmlns:a16="http://schemas.microsoft.com/office/drawing/2014/main" id="{ECCEDE83-BA53-9504-45D9-40F7C20EF1F2}"/>
              </a:ext>
            </a:extLst>
          </p:cNvPr>
          <p:cNvGraphicFramePr>
            <a:graphicFrameLocks noGrp="1"/>
          </p:cNvGraphicFramePr>
          <p:nvPr>
            <p:extLst>
              <p:ext uri="{D42A27DB-BD31-4B8C-83A1-F6EECF244321}">
                <p14:modId xmlns:p14="http://schemas.microsoft.com/office/powerpoint/2010/main" val="407433801"/>
              </p:ext>
            </p:extLst>
          </p:nvPr>
        </p:nvGraphicFramePr>
        <p:xfrm>
          <a:off x="176560" y="1221987"/>
          <a:ext cx="11473574" cy="4977645"/>
        </p:xfrm>
        <a:graphic>
          <a:graphicData uri="http://schemas.openxmlformats.org/drawingml/2006/table">
            <a:tbl>
              <a:tblPr firstRow="1" bandRow="1">
                <a:tableStyleId>{5C22544A-7EE6-4342-B048-85BDC9FD1C3A}</a:tableStyleId>
              </a:tblPr>
              <a:tblGrid>
                <a:gridCol w="1053604">
                  <a:extLst>
                    <a:ext uri="{9D8B030D-6E8A-4147-A177-3AD203B41FA5}">
                      <a16:colId xmlns:a16="http://schemas.microsoft.com/office/drawing/2014/main" val="740017022"/>
                    </a:ext>
                  </a:extLst>
                </a:gridCol>
                <a:gridCol w="3597310">
                  <a:extLst>
                    <a:ext uri="{9D8B030D-6E8A-4147-A177-3AD203B41FA5}">
                      <a16:colId xmlns:a16="http://schemas.microsoft.com/office/drawing/2014/main" val="3508486743"/>
                    </a:ext>
                  </a:extLst>
                </a:gridCol>
                <a:gridCol w="6822660">
                  <a:extLst>
                    <a:ext uri="{9D8B030D-6E8A-4147-A177-3AD203B41FA5}">
                      <a16:colId xmlns:a16="http://schemas.microsoft.com/office/drawing/2014/main" val="2134437126"/>
                    </a:ext>
                  </a:extLst>
                </a:gridCol>
              </a:tblGrid>
              <a:tr h="394816">
                <a:tc>
                  <a:txBody>
                    <a:bodyPr/>
                    <a:lstStyle/>
                    <a:p>
                      <a:r>
                        <a:rPr lang="en-US" sz="1200" dirty="0" err="1"/>
                        <a:t>Sl</a:t>
                      </a:r>
                      <a:r>
                        <a:rPr lang="en-US" sz="1200" dirty="0"/>
                        <a:t> No</a:t>
                      </a:r>
                    </a:p>
                  </a:txBody>
                  <a:tcPr/>
                </a:tc>
                <a:tc>
                  <a:txBody>
                    <a:bodyPr/>
                    <a:lstStyle/>
                    <a:p>
                      <a:r>
                        <a:rPr lang="en-US" sz="1200"/>
                        <a:t>Author and Citation</a:t>
                      </a:r>
                    </a:p>
                  </a:txBody>
                  <a:tcPr/>
                </a:tc>
                <a:tc>
                  <a:txBody>
                    <a:bodyPr/>
                    <a:lstStyle/>
                    <a:p>
                      <a:r>
                        <a:rPr lang="en-US" sz="1200"/>
                        <a:t>Key Findings/Learnings</a:t>
                      </a:r>
                    </a:p>
                  </a:txBody>
                  <a:tcPr/>
                </a:tc>
                <a:extLst>
                  <a:ext uri="{0D108BD9-81ED-4DB2-BD59-A6C34878D82A}">
                    <a16:rowId xmlns:a16="http://schemas.microsoft.com/office/drawing/2014/main" val="2874234046"/>
                  </a:ext>
                </a:extLst>
              </a:tr>
              <a:tr h="1708851">
                <a:tc>
                  <a:txBody>
                    <a:bodyPr/>
                    <a:lstStyle/>
                    <a:p>
                      <a:r>
                        <a:rPr lang="en-US" sz="1200"/>
                        <a:t>[1]</a:t>
                      </a:r>
                    </a:p>
                  </a:txBody>
                  <a:tcPr/>
                </a:tc>
                <a:tc>
                  <a:txBody>
                    <a:bodyPr/>
                    <a:lstStyle/>
                    <a:p>
                      <a:pPr marL="0" lvl="0" indent="0" algn="l">
                        <a:lnSpc>
                          <a:spcPct val="100000"/>
                        </a:lnSpc>
                        <a:buNone/>
                      </a:pPr>
                      <a:r>
                        <a:rPr lang="en-US" sz="1200" b="0" i="0" u="none" strike="noStrike" baseline="0" noProof="0" dirty="0">
                          <a:solidFill>
                            <a:srgbClr val="000000"/>
                          </a:solidFill>
                          <a:latin typeface="Arial"/>
                          <a:cs typeface="Arial"/>
                        </a:rPr>
                        <a:t> Gupta, N. S., </a:t>
                      </a:r>
                      <a:r>
                        <a:rPr lang="en-US" sz="1200" b="0" i="0" u="none" strike="noStrike" baseline="0" noProof="0" dirty="0" err="1">
                          <a:solidFill>
                            <a:srgbClr val="000000"/>
                          </a:solidFill>
                          <a:latin typeface="Arial"/>
                          <a:cs typeface="Arial"/>
                        </a:rPr>
                        <a:t>Mohta</a:t>
                      </a:r>
                      <a:r>
                        <a:rPr lang="en-US" sz="1200" b="0" i="0" u="none" strike="noStrike" baseline="0" noProof="0" dirty="0">
                          <a:solidFill>
                            <a:srgbClr val="000000"/>
                          </a:solidFill>
                          <a:latin typeface="Arial"/>
                          <a:cs typeface="Arial"/>
                        </a:rPr>
                        <a:t>, Y., </a:t>
                      </a:r>
                      <a:r>
                        <a:rPr lang="en-US" sz="1200" b="0" i="0" u="none" strike="noStrike" baseline="0" noProof="0" dirty="0" err="1">
                          <a:solidFill>
                            <a:srgbClr val="000000"/>
                          </a:solidFill>
                          <a:latin typeface="Arial"/>
                          <a:cs typeface="Arial"/>
                        </a:rPr>
                        <a:t>Heda</a:t>
                      </a:r>
                      <a:r>
                        <a:rPr lang="en-US" sz="1200" b="0" i="0" u="none" strike="noStrike" baseline="0" noProof="0" dirty="0">
                          <a:solidFill>
                            <a:srgbClr val="000000"/>
                          </a:solidFill>
                          <a:latin typeface="Arial"/>
                          <a:cs typeface="Arial"/>
                        </a:rPr>
                        <a:t>, K., Armaan, R., </a:t>
                      </a:r>
                      <a:r>
                        <a:rPr lang="en-US" sz="1200" b="0" i="0" u="none" strike="noStrike" baseline="0" noProof="0" dirty="0" err="1">
                          <a:solidFill>
                            <a:srgbClr val="000000"/>
                          </a:solidFill>
                          <a:latin typeface="Arial"/>
                          <a:cs typeface="Arial"/>
                        </a:rPr>
                        <a:t>Valarmathi</a:t>
                      </a:r>
                      <a:r>
                        <a:rPr lang="en-US" sz="1200" b="0" i="0" u="none" strike="noStrike" baseline="0" noProof="0" dirty="0">
                          <a:solidFill>
                            <a:srgbClr val="000000"/>
                          </a:solidFill>
                          <a:latin typeface="Arial"/>
                          <a:cs typeface="Arial"/>
                        </a:rPr>
                        <a:t>, B., &amp; </a:t>
                      </a:r>
                      <a:r>
                        <a:rPr lang="en-US" sz="1200" b="0" i="0" u="none" strike="noStrike" baseline="0" noProof="0" dirty="0" err="1">
                          <a:solidFill>
                            <a:srgbClr val="000000"/>
                          </a:solidFill>
                          <a:latin typeface="Arial"/>
                          <a:cs typeface="Arial"/>
                        </a:rPr>
                        <a:t>Arulkumaran</a:t>
                      </a:r>
                      <a:r>
                        <a:rPr lang="en-US" sz="1200" b="0" i="0" u="none" strike="noStrike" baseline="0" noProof="0" dirty="0">
                          <a:solidFill>
                            <a:srgbClr val="000000"/>
                          </a:solidFill>
                          <a:latin typeface="Arial"/>
                          <a:cs typeface="Arial"/>
                        </a:rPr>
                        <a:t>, G. (2023). Prediction of air quality index using machine</a:t>
                      </a:r>
                      <a:endParaRPr lang="en-US" sz="1200" dirty="0"/>
                    </a:p>
                    <a:p>
                      <a:pPr marL="0" lvl="0" indent="0" algn="l">
                        <a:lnSpc>
                          <a:spcPct val="100000"/>
                        </a:lnSpc>
                        <a:buNone/>
                      </a:pPr>
                      <a:r>
                        <a:rPr lang="en-US" sz="1200" b="0" i="0" u="none" strike="noStrike" baseline="0" noProof="0" dirty="0">
                          <a:solidFill>
                            <a:srgbClr val="000000"/>
                          </a:solidFill>
                          <a:latin typeface="Arial"/>
                          <a:cs typeface="Arial"/>
                        </a:rPr>
                        <a:t>learning techniques: a comparative analysis. Journal of Environmental and Public Health, 2023(1), 4916267. </a:t>
                      </a:r>
                      <a:endParaRPr lang="en-US" sz="1200" dirty="0"/>
                    </a:p>
                    <a:p>
                      <a:pPr lvl="0">
                        <a:buNone/>
                      </a:pPr>
                      <a:endParaRPr lang="en-US" sz="1200" dirty="0"/>
                    </a:p>
                  </a:txBody>
                  <a:tcPr/>
                </a:tc>
                <a:tc>
                  <a:txBody>
                    <a:bodyPr/>
                    <a:lstStyle/>
                    <a:p>
                      <a:pPr lvl="0" algn="l">
                        <a:lnSpc>
                          <a:spcPct val="100000"/>
                        </a:lnSpc>
                        <a:spcBef>
                          <a:spcPts val="0"/>
                        </a:spcBef>
                        <a:spcAft>
                          <a:spcPts val="0"/>
                        </a:spcAft>
                        <a:buNone/>
                      </a:pPr>
                      <a:r>
                        <a:rPr lang="en-US" sz="1200" b="0" i="0" u="none" strike="noStrike" noProof="0" dirty="0">
                          <a:latin typeface="Arial"/>
                          <a:cs typeface="Arial"/>
                        </a:rPr>
                        <a:t>This demonstrates the importance of handling skewed environmental data (using techniques like SMOTE) to achieve high accuracy with Random Forest Regression models, but its true value for our project lies in its application. The researchers successfully bridged the gap between raw data and actionable policy by directly linking their ML predictions to specific local mitigation strategies, proving that algorithmic models can effectively simulate and evaluate the localized impact of proposed solutions—like expanding urban green spaces or limiting biomass burning—before they are physically implemented.</a:t>
                      </a:r>
                      <a:endParaRPr lang="en-US" sz="1200" dirty="0"/>
                    </a:p>
                    <a:p>
                      <a:pPr lvl="0">
                        <a:buNone/>
                      </a:pPr>
                      <a:endParaRPr lang="en-US" sz="1200" dirty="0"/>
                    </a:p>
                  </a:txBody>
                  <a:tcPr/>
                </a:tc>
                <a:extLst>
                  <a:ext uri="{0D108BD9-81ED-4DB2-BD59-A6C34878D82A}">
                    <a16:rowId xmlns:a16="http://schemas.microsoft.com/office/drawing/2014/main" val="1993885728"/>
                  </a:ext>
                </a:extLst>
              </a:tr>
              <a:tr h="1346368">
                <a:tc>
                  <a:txBody>
                    <a:bodyPr/>
                    <a:lstStyle/>
                    <a:p>
                      <a:r>
                        <a:rPr lang="en-US" sz="1200"/>
                        <a:t>[2]</a:t>
                      </a:r>
                    </a:p>
                  </a:txBody>
                  <a:tcPr/>
                </a:tc>
                <a:tc>
                  <a:txBody>
                    <a:bodyPr/>
                    <a:lstStyle/>
                    <a:p>
                      <a:pPr marL="0" lvl="0" indent="0" algn="l">
                        <a:lnSpc>
                          <a:spcPct val="100000"/>
                        </a:lnSpc>
                        <a:buNone/>
                      </a:pPr>
                      <a:r>
                        <a:rPr lang="en-US" sz="1200" b="0" i="0" u="none" strike="noStrike" baseline="0" noProof="0" dirty="0" err="1">
                          <a:solidFill>
                            <a:srgbClr val="000000"/>
                          </a:solidFill>
                          <a:latin typeface="Arial"/>
                          <a:cs typeface="Arial"/>
                        </a:rPr>
                        <a:t>Janarthanan</a:t>
                      </a:r>
                      <a:r>
                        <a:rPr lang="en-US" sz="1200" b="0" i="0" u="none" strike="noStrike" baseline="0" noProof="0" dirty="0">
                          <a:solidFill>
                            <a:srgbClr val="000000"/>
                          </a:solidFill>
                          <a:latin typeface="Arial"/>
                          <a:cs typeface="Arial"/>
                        </a:rPr>
                        <a:t>, R., </a:t>
                      </a:r>
                      <a:r>
                        <a:rPr lang="en-US" sz="1200" b="0" i="0" u="none" strike="noStrike" baseline="0" noProof="0" dirty="0" err="1">
                          <a:solidFill>
                            <a:srgbClr val="000000"/>
                          </a:solidFill>
                          <a:latin typeface="Arial"/>
                          <a:cs typeface="Arial"/>
                        </a:rPr>
                        <a:t>Partheeban</a:t>
                      </a:r>
                      <a:r>
                        <a:rPr lang="en-US" sz="1200" b="0" i="0" u="none" strike="noStrike" baseline="0" noProof="0" dirty="0">
                          <a:solidFill>
                            <a:srgbClr val="000000"/>
                          </a:solidFill>
                          <a:latin typeface="Arial"/>
                          <a:cs typeface="Arial"/>
                        </a:rPr>
                        <a:t>, P., Somasundaram, K., &amp; </a:t>
                      </a:r>
                      <a:r>
                        <a:rPr lang="en-US" sz="1200" b="0" i="0" u="none" strike="noStrike" baseline="0" noProof="0" dirty="0" err="1">
                          <a:solidFill>
                            <a:srgbClr val="000000"/>
                          </a:solidFill>
                          <a:latin typeface="Arial"/>
                          <a:cs typeface="Arial"/>
                        </a:rPr>
                        <a:t>Elamparithi</a:t>
                      </a:r>
                      <a:r>
                        <a:rPr lang="en-US" sz="1200" b="0" i="0" u="none" strike="noStrike" baseline="0" noProof="0" dirty="0">
                          <a:solidFill>
                            <a:srgbClr val="000000"/>
                          </a:solidFill>
                          <a:latin typeface="Arial"/>
                          <a:cs typeface="Arial"/>
                        </a:rPr>
                        <a:t>, P. N. (2021). A deep learning approach for prediction of air quality index</a:t>
                      </a:r>
                      <a:endParaRPr lang="en-US" sz="1200" dirty="0"/>
                    </a:p>
                    <a:p>
                      <a:pPr marL="0" lvl="0" indent="0" algn="l">
                        <a:lnSpc>
                          <a:spcPct val="100000"/>
                        </a:lnSpc>
                        <a:buNone/>
                      </a:pPr>
                      <a:r>
                        <a:rPr lang="en-US" sz="1200" b="0" i="0" u="none" strike="noStrike" baseline="0" noProof="0" dirty="0">
                          <a:solidFill>
                            <a:srgbClr val="000000"/>
                          </a:solidFill>
                          <a:latin typeface="Arial"/>
                          <a:cs typeface="Arial"/>
                        </a:rPr>
                        <a:t>in a metropolitan city. Sustainable Cities and Society, 67, 102720. </a:t>
                      </a:r>
                      <a:endParaRPr lang="en-US" sz="1200" dirty="0"/>
                    </a:p>
                    <a:p>
                      <a:pPr lvl="0">
                        <a:buNone/>
                      </a:pPr>
                      <a:endParaRPr lang="en-US" sz="1200" dirty="0"/>
                    </a:p>
                  </a:txBody>
                  <a:tcPr/>
                </a:tc>
                <a:tc>
                  <a:txBody>
                    <a:bodyPr/>
                    <a:lstStyle/>
                    <a:p>
                      <a:r>
                        <a:rPr lang="en-US" sz="1200" dirty="0"/>
                        <a:t>This </a:t>
                      </a:r>
                      <a:r>
                        <a:rPr lang="en-US" sz="1200" b="0" i="0" u="none" strike="noStrike" noProof="0" dirty="0">
                          <a:latin typeface="Arial"/>
                          <a:cs typeface="Arial"/>
                        </a:rPr>
                        <a:t>highlights the power of hybrid deep learning architectures (specifically combining SVR with LSTM networks) to capture the highly complex, non-linear, and spatiotemporal patterns of urban pollution. For our work, this validates that deep learning is uniquely equipped to move beyond broad city-wide averages to provide hyper-local, time-sensitive forecasts; which means our models could be designed to act as high-resolution simulators, predicting how a specific solution deployed in one neighborhood today might ripple out and affect surrounding areas tomorrow.</a:t>
                      </a:r>
                      <a:endParaRPr lang="en-US" sz="1200" dirty="0"/>
                    </a:p>
                  </a:txBody>
                  <a:tcPr/>
                </a:tc>
                <a:extLst>
                  <a:ext uri="{0D108BD9-81ED-4DB2-BD59-A6C34878D82A}">
                    <a16:rowId xmlns:a16="http://schemas.microsoft.com/office/drawing/2014/main" val="3062460925"/>
                  </a:ext>
                </a:extLst>
              </a:tr>
              <a:tr h="1527610">
                <a:tc>
                  <a:txBody>
                    <a:bodyPr/>
                    <a:lstStyle/>
                    <a:p>
                      <a:r>
                        <a:rPr lang="en-US" sz="1200"/>
                        <a:t>[3]</a:t>
                      </a:r>
                    </a:p>
                  </a:txBody>
                  <a:tcPr/>
                </a:tc>
                <a:tc>
                  <a:txBody>
                    <a:bodyPr/>
                    <a:lstStyle/>
                    <a:p>
                      <a:pPr marL="0" lvl="0" indent="0" algn="l">
                        <a:lnSpc>
                          <a:spcPct val="100000"/>
                        </a:lnSpc>
                        <a:buNone/>
                      </a:pPr>
                      <a:r>
                        <a:rPr lang="en-US" sz="1200" b="0" i="0" u="none" strike="noStrike" baseline="0" noProof="0">
                          <a:solidFill>
                            <a:srgbClr val="000000"/>
                          </a:solidFill>
                          <a:latin typeface="Arial"/>
                          <a:cs typeface="Arial"/>
                        </a:rPr>
                        <a:t>Bansal, K., &amp; Srivastava, V. (2024, August). Sustainable Solutions for Delhi's Air Pollution: A Data Driven Approach. In International</a:t>
                      </a:r>
                      <a:endParaRPr lang="en-US" sz="1200"/>
                    </a:p>
                    <a:p>
                      <a:pPr marL="0" lvl="0" indent="0" algn="l">
                        <a:lnSpc>
                          <a:spcPct val="100000"/>
                        </a:lnSpc>
                        <a:buNone/>
                      </a:pPr>
                      <a:r>
                        <a:rPr lang="en-US" sz="1200" b="0" i="0" u="none" strike="noStrike" baseline="0" noProof="0">
                          <a:solidFill>
                            <a:srgbClr val="000000"/>
                          </a:solidFill>
                          <a:latin typeface="Arial"/>
                          <a:cs typeface="Arial"/>
                        </a:rPr>
                        <a:t>Conference on Advanced Materials for Sustainable Innovation (pp. 143-157). Singapore: Springer Nature Singapore</a:t>
                      </a:r>
                      <a:endParaRPr lang="en-US" sz="1200"/>
                    </a:p>
                    <a:p>
                      <a:pPr lvl="0">
                        <a:buNone/>
                      </a:pPr>
                      <a:endParaRPr lang="en-US" sz="1200"/>
                    </a:p>
                  </a:txBody>
                  <a:tcPr/>
                </a:tc>
                <a:tc>
                  <a:txBody>
                    <a:bodyPr/>
                    <a:lstStyle/>
                    <a:p>
                      <a:r>
                        <a:rPr lang="en-US" sz="1200" dirty="0"/>
                        <a:t>It </a:t>
                      </a:r>
                      <a:r>
                        <a:rPr lang="en-US" sz="1200" b="0" i="0" u="none" strike="noStrike" noProof="0" dirty="0">
                          <a:latin typeface="Arial"/>
                          <a:cs typeface="Arial"/>
                        </a:rPr>
                        <a:t>serves as a direct blueprint for your project, as the authors used models like </a:t>
                      </a:r>
                      <a:r>
                        <a:rPr lang="en-US" sz="1200" b="0" i="0" u="none" strike="noStrike" noProof="0" dirty="0" err="1">
                          <a:latin typeface="Arial"/>
                          <a:cs typeface="Arial"/>
                        </a:rPr>
                        <a:t>CatBoost</a:t>
                      </a:r>
                      <a:r>
                        <a:rPr lang="en-US" sz="1200" b="0" i="0" u="none" strike="noStrike" noProof="0" dirty="0">
                          <a:latin typeface="Arial"/>
                          <a:cs typeface="Arial"/>
                        </a:rPr>
                        <a:t> specifically to audit the real-world effectiveness of existing governmental interventions in Delhi. Their research emphasizes that severe pollution events are usually a synergistic combination of multiple emission sources (particulates interacting with gases), indicating that our ML models will need to account for complex pollutant interactions when attempting to predict the success of multi-faceted solutions, such as simultaneous traffic restrictions and industrial shutdowns.</a:t>
                      </a:r>
                      <a:endParaRPr lang="en-US" sz="1200" dirty="0"/>
                    </a:p>
                  </a:txBody>
                  <a:tcPr/>
                </a:tc>
                <a:extLst>
                  <a:ext uri="{0D108BD9-81ED-4DB2-BD59-A6C34878D82A}">
                    <a16:rowId xmlns:a16="http://schemas.microsoft.com/office/drawing/2014/main" val="146189362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139452-4FA4-8FF8-5BF9-E4B4320D02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a:t>5</a:t>
            </a:fld>
            <a:endParaRPr lang="en-IN"/>
          </a:p>
        </p:txBody>
      </p:sp>
      <p:graphicFrame>
        <p:nvGraphicFramePr>
          <p:cNvPr id="6" name="Table 5">
            <a:extLst>
              <a:ext uri="{FF2B5EF4-FFF2-40B4-BE49-F238E27FC236}">
                <a16:creationId xmlns:a16="http://schemas.microsoft.com/office/drawing/2014/main" id="{06D2C7B6-E1BA-940F-38A7-CB816BF3C149}"/>
              </a:ext>
            </a:extLst>
          </p:cNvPr>
          <p:cNvGraphicFramePr>
            <a:graphicFrameLocks noGrp="1"/>
          </p:cNvGraphicFramePr>
          <p:nvPr>
            <p:extLst>
              <p:ext uri="{D42A27DB-BD31-4B8C-83A1-F6EECF244321}">
                <p14:modId xmlns:p14="http://schemas.microsoft.com/office/powerpoint/2010/main" val="1381963402"/>
              </p:ext>
            </p:extLst>
          </p:nvPr>
        </p:nvGraphicFramePr>
        <p:xfrm>
          <a:off x="342122" y="1345163"/>
          <a:ext cx="11498380" cy="4954631"/>
        </p:xfrm>
        <a:graphic>
          <a:graphicData uri="http://schemas.openxmlformats.org/drawingml/2006/table">
            <a:tbl>
              <a:tblPr firstRow="1" bandRow="1">
                <a:tableStyleId>{5C22544A-7EE6-4342-B048-85BDC9FD1C3A}</a:tableStyleId>
              </a:tblPr>
              <a:tblGrid>
                <a:gridCol w="1114937">
                  <a:extLst>
                    <a:ext uri="{9D8B030D-6E8A-4147-A177-3AD203B41FA5}">
                      <a16:colId xmlns:a16="http://schemas.microsoft.com/office/drawing/2014/main" val="2693989687"/>
                    </a:ext>
                  </a:extLst>
                </a:gridCol>
                <a:gridCol w="3557964">
                  <a:extLst>
                    <a:ext uri="{9D8B030D-6E8A-4147-A177-3AD203B41FA5}">
                      <a16:colId xmlns:a16="http://schemas.microsoft.com/office/drawing/2014/main" val="643636748"/>
                    </a:ext>
                  </a:extLst>
                </a:gridCol>
                <a:gridCol w="6825479">
                  <a:extLst>
                    <a:ext uri="{9D8B030D-6E8A-4147-A177-3AD203B41FA5}">
                      <a16:colId xmlns:a16="http://schemas.microsoft.com/office/drawing/2014/main" val="2955066216"/>
                    </a:ext>
                  </a:extLst>
                </a:gridCol>
              </a:tblGrid>
              <a:tr h="502157">
                <a:tc>
                  <a:txBody>
                    <a:bodyPr/>
                    <a:lstStyle/>
                    <a:p>
                      <a:r>
                        <a:rPr lang="en-US" dirty="0" err="1"/>
                        <a:t>Sl</a:t>
                      </a:r>
                      <a:r>
                        <a:rPr lang="en-US" dirty="0"/>
                        <a:t> No</a:t>
                      </a:r>
                    </a:p>
                  </a:txBody>
                  <a:tcPr/>
                </a:tc>
                <a:tc>
                  <a:txBody>
                    <a:bodyPr/>
                    <a:lstStyle/>
                    <a:p>
                      <a:r>
                        <a:rPr lang="en-US"/>
                        <a:t>Author and Citation</a:t>
                      </a:r>
                    </a:p>
                  </a:txBody>
                  <a:tcPr/>
                </a:tc>
                <a:tc>
                  <a:txBody>
                    <a:bodyPr/>
                    <a:lstStyle/>
                    <a:p>
                      <a:r>
                        <a:rPr lang="en-US"/>
                        <a:t>Key Findings/Learnings</a:t>
                      </a:r>
                    </a:p>
                  </a:txBody>
                  <a:tcPr/>
                </a:tc>
                <a:extLst>
                  <a:ext uri="{0D108BD9-81ED-4DB2-BD59-A6C34878D82A}">
                    <a16:rowId xmlns:a16="http://schemas.microsoft.com/office/drawing/2014/main" val="3091598262"/>
                  </a:ext>
                </a:extLst>
              </a:tr>
              <a:tr h="2226237">
                <a:tc>
                  <a:txBody>
                    <a:bodyPr/>
                    <a:lstStyle/>
                    <a:p>
                      <a:endParaRPr lang="en-US"/>
                    </a:p>
                    <a:p>
                      <a:pPr lvl="0">
                        <a:buNone/>
                      </a:pPr>
                      <a:endParaRPr lang="en-US"/>
                    </a:p>
                    <a:p>
                      <a:pPr lvl="0">
                        <a:buNone/>
                      </a:pPr>
                      <a:r>
                        <a:rPr lang="en-US"/>
                        <a:t>[4]</a:t>
                      </a:r>
                    </a:p>
                  </a:txBody>
                  <a:tcPr/>
                </a:tc>
                <a:tc>
                  <a:txBody>
                    <a:bodyPr/>
                    <a:lstStyle/>
                    <a:p>
                      <a:pPr marL="0" marR="0" lvl="0" indent="0" algn="l">
                        <a:lnSpc>
                          <a:spcPct val="100000"/>
                        </a:lnSpc>
                        <a:spcBef>
                          <a:spcPts val="0"/>
                        </a:spcBef>
                        <a:spcAft>
                          <a:spcPts val="0"/>
                        </a:spcAft>
                        <a:buNone/>
                      </a:pPr>
                      <a:endParaRPr lang="en-IN" sz="1400" b="0" i="0" u="none" strike="noStrike" noProof="0">
                        <a:solidFill>
                          <a:srgbClr val="000000"/>
                        </a:solidFill>
                        <a:latin typeface="Arial"/>
                        <a:cs typeface="Arial"/>
                      </a:endParaRPr>
                    </a:p>
                    <a:p>
                      <a:pPr marL="0" marR="0" lvl="0" indent="0" algn="l">
                        <a:lnSpc>
                          <a:spcPct val="100000"/>
                        </a:lnSpc>
                        <a:spcBef>
                          <a:spcPts val="0"/>
                        </a:spcBef>
                        <a:spcAft>
                          <a:spcPts val="0"/>
                        </a:spcAft>
                        <a:buNone/>
                      </a:pPr>
                      <a:r>
                        <a:rPr lang="en-US" sz="1400" b="0" i="0" u="none" strike="noStrike" noProof="0">
                          <a:solidFill>
                            <a:srgbClr val="000000"/>
                          </a:solidFill>
                          <a:latin typeface="Arial"/>
                          <a:cs typeface="Arial"/>
                        </a:rPr>
                        <a:t>Mukendi, C. M., &amp; Choi, H. (2024). Air quality forecasting using machine learning: A global perspective with relevance to low-resourcesettings. Review of Integrative Business and Economics Research, 13(4), 605–619.</a:t>
                      </a:r>
                      <a:endParaRPr lang="en-US"/>
                    </a:p>
                  </a:txBody>
                  <a:tcPr/>
                </a:tc>
                <a:tc>
                  <a:txBody>
                    <a:bodyPr/>
                    <a:lstStyle/>
                    <a:p>
                      <a:pPr lvl="0">
                        <a:buNone/>
                      </a:pPr>
                      <a:r>
                        <a:rPr lang="en-US" sz="1400" b="0" i="0" u="none" strike="noStrike" noProof="0" dirty="0">
                          <a:latin typeface="Arial"/>
                          <a:cs typeface="Arial"/>
                        </a:rPr>
                        <a:t>This offers a strategic optimization for your predictive models by revealing that framing air quality forecasting as a </a:t>
                      </a:r>
                      <a:r>
                        <a:rPr lang="en-US" sz="1400" b="0" i="1" u="none" strike="noStrike" noProof="0" dirty="0">
                          <a:latin typeface="Arial"/>
                          <a:cs typeface="Arial"/>
                        </a:rPr>
                        <a:t>classification</a:t>
                      </a:r>
                      <a:r>
                        <a:rPr lang="en-US" sz="1400" b="0" i="0" u="none" strike="noStrike" noProof="0" dirty="0">
                          <a:latin typeface="Arial"/>
                          <a:cs typeface="Arial"/>
                        </a:rPr>
                        <a:t> problem (predicting an AQI category) rather than a strict numerical </a:t>
                      </a:r>
                      <a:r>
                        <a:rPr lang="en-US" sz="1400" b="0" i="1" u="none" strike="noStrike" noProof="0" dirty="0">
                          <a:latin typeface="Arial"/>
                          <a:cs typeface="Arial"/>
                        </a:rPr>
                        <a:t>regression</a:t>
                      </a:r>
                      <a:r>
                        <a:rPr lang="en-US" sz="1400" b="0" i="0" u="none" strike="noStrike" noProof="0" dirty="0">
                          <a:latin typeface="Arial"/>
                          <a:cs typeface="Arial"/>
                        </a:rPr>
                        <a:t> problem improved model generalizability on unseen data by 42%. Our project aims to predict the outcomes of interventions in regions that lack decades of comprehensive historical sensor data, their success in building accurate, resilient models using minimal data and global weather repositories is a crucial methodological advantage.</a:t>
                      </a:r>
                      <a:endParaRPr lang="en-US" dirty="0"/>
                    </a:p>
                  </a:txBody>
                  <a:tcPr/>
                </a:tc>
                <a:extLst>
                  <a:ext uri="{0D108BD9-81ED-4DB2-BD59-A6C34878D82A}">
                    <a16:rowId xmlns:a16="http://schemas.microsoft.com/office/drawing/2014/main" val="4051261362"/>
                  </a:ext>
                </a:extLst>
              </a:tr>
              <a:tr h="2226237">
                <a:tc>
                  <a:txBody>
                    <a:bodyPr/>
                    <a:lstStyle/>
                    <a:p>
                      <a:endParaRPr lang="en-US"/>
                    </a:p>
                    <a:p>
                      <a:pPr lvl="0">
                        <a:buNone/>
                      </a:pPr>
                      <a:endParaRPr lang="en-US"/>
                    </a:p>
                    <a:p>
                      <a:pPr lvl="0">
                        <a:buNone/>
                      </a:pPr>
                      <a:endParaRPr lang="en-US"/>
                    </a:p>
                    <a:p>
                      <a:pPr lvl="0">
                        <a:buNone/>
                      </a:pPr>
                      <a:r>
                        <a:rPr lang="en-US"/>
                        <a:t>[5]</a:t>
                      </a:r>
                    </a:p>
                  </a:txBody>
                  <a:tcPr/>
                </a:tc>
                <a:tc>
                  <a:txBody>
                    <a:bodyPr/>
                    <a:lstStyle/>
                    <a:p>
                      <a:endParaRPr lang="en-US" dirty="0"/>
                    </a:p>
                    <a:p>
                      <a:pPr lvl="0" algn="l">
                        <a:lnSpc>
                          <a:spcPct val="100000"/>
                        </a:lnSpc>
                        <a:spcBef>
                          <a:spcPts val="0"/>
                        </a:spcBef>
                        <a:spcAft>
                          <a:spcPts val="0"/>
                        </a:spcAft>
                        <a:buNone/>
                      </a:pPr>
                      <a:r>
                        <a:rPr lang="en-US" sz="1400" b="0" i="0" u="none" strike="noStrike" noProof="0" dirty="0">
                          <a:solidFill>
                            <a:srgbClr val="000000"/>
                          </a:solidFill>
                          <a:latin typeface="Arial"/>
                          <a:cs typeface="Arial"/>
                        </a:rPr>
                        <a:t>Seinfeld, J. H., &amp; </a:t>
                      </a:r>
                      <a:r>
                        <a:rPr lang="en-US" sz="1400" b="0" i="0" u="none" strike="noStrike" noProof="0" dirty="0" err="1">
                          <a:solidFill>
                            <a:srgbClr val="000000"/>
                          </a:solidFill>
                          <a:latin typeface="Arial"/>
                          <a:cs typeface="Arial"/>
                        </a:rPr>
                        <a:t>Pandis</a:t>
                      </a:r>
                      <a:r>
                        <a:rPr lang="en-US" sz="1400" b="0" i="0" u="none" strike="noStrike" noProof="0" dirty="0">
                          <a:solidFill>
                            <a:srgbClr val="000000"/>
                          </a:solidFill>
                          <a:latin typeface="Arial"/>
                          <a:cs typeface="Arial"/>
                        </a:rPr>
                        <a:t>, S. N. (2016). </a:t>
                      </a:r>
                      <a:r>
                        <a:rPr lang="en-US" sz="1400" b="0" i="1" u="none" strike="noStrike" noProof="0" dirty="0">
                          <a:solidFill>
                            <a:srgbClr val="000000"/>
                          </a:solidFill>
                          <a:latin typeface="Arial"/>
                          <a:cs typeface="Arial"/>
                        </a:rPr>
                        <a:t>Atmospheric chemistry and physics: from air pollution to climate change</a:t>
                      </a:r>
                      <a:r>
                        <a:rPr lang="en-US" sz="1400" b="0" i="0" u="none" strike="noStrike" noProof="0" dirty="0">
                          <a:solidFill>
                            <a:srgbClr val="000000"/>
                          </a:solidFill>
                          <a:latin typeface="Arial"/>
                          <a:cs typeface="Arial"/>
                        </a:rPr>
                        <a:t>. John Wiley &amp; Sons.</a:t>
                      </a:r>
                    </a:p>
                    <a:p>
                      <a:pPr lvl="0">
                        <a:buNone/>
                      </a:pPr>
                      <a:endParaRPr lang="en-US" dirty="0"/>
                    </a:p>
                  </a:txBody>
                  <a:tcPr/>
                </a:tc>
                <a:tc>
                  <a:txBody>
                    <a:bodyPr/>
                    <a:lstStyle/>
                    <a:p>
                      <a:r>
                        <a:rPr lang="en-US" dirty="0"/>
                        <a:t>This paper explains how atmospheric composition, chemical reactions, radiation, transport, and meteorology interact to shape both air pollution and climate change. It covers core topics such as tropospheric and stratospheric chemistry, aerosol physics and chemistry, new-particle formation, cloud physics, and mathematical models used to study atmospheric processes. It also expands its treatment of organic aerosols and physical/dynamic meteorology, reflecting major advances in understanding how particles form, evolve, and affect air quality and climate.</a:t>
                      </a:r>
                    </a:p>
                  </a:txBody>
                  <a:tcPr/>
                </a:tc>
                <a:extLst>
                  <a:ext uri="{0D108BD9-81ED-4DB2-BD59-A6C34878D82A}">
                    <a16:rowId xmlns:a16="http://schemas.microsoft.com/office/drawing/2014/main" val="2634445900"/>
                  </a:ext>
                </a:extLst>
              </a:tr>
            </a:tbl>
          </a:graphicData>
        </a:graphic>
      </p:graphicFrame>
      <p:sp>
        <p:nvSpPr>
          <p:cNvPr id="7" name="Google Shape;161;p6">
            <a:extLst>
              <a:ext uri="{FF2B5EF4-FFF2-40B4-BE49-F238E27FC236}">
                <a16:creationId xmlns:a16="http://schemas.microsoft.com/office/drawing/2014/main" id="{E74EF0ED-DE1E-3FA8-0B69-8CFD0D18386D}"/>
              </a:ext>
            </a:extLst>
          </p:cNvPr>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extLst>
      <p:ext uri="{BB962C8B-B14F-4D97-AF65-F5344CB8AC3E}">
        <p14:creationId xmlns:p14="http://schemas.microsoft.com/office/powerpoint/2010/main" val="796432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US" sz="2400" b="1"/>
              <a:t>Clear statement of the problem: </a:t>
            </a:r>
            <a:r>
              <a:rPr lang="en-US" sz="2400"/>
              <a:t>How can we accurately predict air pollutant concentrations and determine the most effective combination of interventions to minimize pollution levels while considering real-world constraints?</a:t>
            </a:r>
            <a:endParaRPr lang="en-US"/>
          </a:p>
          <a:p>
            <a:pPr marL="0" indent="0">
              <a:spcBef>
                <a:spcPts val="0"/>
              </a:spcBef>
              <a:buNone/>
            </a:pPr>
            <a:r>
              <a:rPr lang="en-US" sz="2400" b="1"/>
              <a:t>Context of the Problem: </a:t>
            </a:r>
            <a:r>
              <a:rPr lang="en-US" sz="2400"/>
              <a:t>Cities like Delhi, Bangalore, Mumbai face:</a:t>
            </a:r>
            <a:endParaRPr lang="en-US"/>
          </a:p>
          <a:p>
            <a:r>
              <a:rPr lang="en-US" sz="2400"/>
              <a:t>Severe PM2.5 pollution </a:t>
            </a:r>
          </a:p>
          <a:p>
            <a:r>
              <a:rPr lang="en-US" sz="2400"/>
              <a:t>Seasonal spikes (winter smog, festivals, crop burning) </a:t>
            </a:r>
          </a:p>
          <a:p>
            <a:r>
              <a:rPr lang="en-US" sz="2400"/>
              <a:t>Health crises (asthma, lung disease)</a:t>
            </a:r>
          </a:p>
          <a:p>
            <a:pPr marL="228600" indent="-228600">
              <a:spcBef>
                <a:spcPts val="0"/>
              </a:spcBef>
            </a:pPr>
            <a:endParaRPr lang="en-US" sz="2400" b="1"/>
          </a:p>
          <a:p>
            <a:pPr marL="0" indent="0">
              <a:spcBef>
                <a:spcPts val="0"/>
              </a:spcBef>
              <a:buNone/>
            </a:pPr>
            <a:r>
              <a:rPr lang="en-US" sz="2400" b="1"/>
              <a:t>Significance of Addressing the Problem:</a:t>
            </a:r>
            <a:r>
              <a:rPr lang="en-US" sz="2400"/>
              <a:t> In cities such as Delhi, where AQI levels exceed safe limits directly causing serious health crises, it is important that we are able to predict pollution and plan control strategies in advance to reduce exposure and prevent health emergencies. This also helps us with bettering environmental sustainability, protecting biodiversity. These are all the factors that pitch in to support sustainable urban development.</a:t>
            </a:r>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078988"/>
            <a:ext cx="11496675" cy="5454048"/>
          </a:xfrm>
          <a:prstGeom prst="rect">
            <a:avLst/>
          </a:prstGeom>
          <a:noFill/>
          <a:ln>
            <a:noFill/>
          </a:ln>
        </p:spPr>
        <p:txBody>
          <a:bodyPr spcFirstLastPara="1" wrap="square" lIns="91425" tIns="45700" rIns="91425" bIns="45700" anchor="t" anchorCtr="0">
            <a:normAutofit/>
          </a:bodyPr>
          <a:lstStyle/>
          <a:p>
            <a:pPr marL="0" indent="0">
              <a:spcBef>
                <a:spcPts val="0"/>
              </a:spcBef>
              <a:buNone/>
            </a:pPr>
            <a:r>
              <a:rPr lang="en-IN" sz="2400" b="1"/>
              <a:t>Main Objective: </a:t>
            </a:r>
            <a:r>
              <a:rPr lang="en-IN" sz="2400"/>
              <a:t>To develop an integrated predictive and optimization model that forecasts urban air pollutant levels at a local level and determines the most effective intervention strategies to minimize pollution under real-world constraints.</a:t>
            </a:r>
            <a:endParaRPr lang="en-US" sz="2400"/>
          </a:p>
          <a:p>
            <a:pPr marL="0" indent="0">
              <a:spcBef>
                <a:spcPts val="0"/>
              </a:spcBef>
              <a:buNone/>
            </a:pPr>
            <a:endParaRPr lang="en-IN" sz="2400" b="1"/>
          </a:p>
          <a:p>
            <a:pPr marL="0" indent="0">
              <a:spcBef>
                <a:spcPts val="0"/>
              </a:spcBef>
              <a:buNone/>
            </a:pPr>
            <a:r>
              <a:rPr lang="en-IN" sz="2400" b="1"/>
              <a:t>Specific Objectives: </a:t>
            </a:r>
            <a:endParaRPr lang="en-IN"/>
          </a:p>
          <a:p>
            <a:pPr marL="0" indent="0">
              <a:spcBef>
                <a:spcPts val="0"/>
              </a:spcBef>
              <a:buNone/>
            </a:pPr>
            <a:r>
              <a:rPr lang="en-IN" sz="2400"/>
              <a:t>1)Data acquisition and processing</a:t>
            </a:r>
          </a:p>
          <a:p>
            <a:pPr marL="0" indent="0">
              <a:spcBef>
                <a:spcPts val="0"/>
              </a:spcBef>
              <a:buNone/>
            </a:pPr>
            <a:r>
              <a:rPr lang="en-IN" sz="2400"/>
              <a:t>2)Develop a predictive model</a:t>
            </a:r>
          </a:p>
          <a:p>
            <a:pPr marL="0" indent="0">
              <a:spcBef>
                <a:spcPts val="0"/>
              </a:spcBef>
              <a:buNone/>
            </a:pPr>
            <a:r>
              <a:rPr lang="en-IN" sz="2400"/>
              <a:t>3)Scenario simulation</a:t>
            </a:r>
          </a:p>
          <a:p>
            <a:pPr marL="0" indent="0">
              <a:spcBef>
                <a:spcPts val="0"/>
              </a:spcBef>
              <a:buNone/>
            </a:pPr>
            <a:endParaRPr lang="en-IN" sz="2400" b="1"/>
          </a:p>
          <a:p>
            <a:pPr marL="0" indent="0">
              <a:spcBef>
                <a:spcPts val="0"/>
              </a:spcBef>
              <a:buNone/>
            </a:pPr>
            <a:r>
              <a:rPr lang="en-IN" sz="2400" b="1"/>
              <a:t>Expected Contributions to the Field: </a:t>
            </a:r>
            <a:r>
              <a:rPr lang="en-IN" sz="2400"/>
              <a:t>This project contributes as a smaller part of a bigger project being developed by our seniors in 5th and 6th semesters who aim to build a consolidated scalable framework for predictions and preventive method simulations. In general, it encourages data-driven policy design and till some extent, contributes to interdisciplinary research.</a:t>
            </a:r>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2" y="1151516"/>
            <a:ext cx="11842377" cy="5277985"/>
          </a:xfrm>
          <a:prstGeom prst="rect">
            <a:avLst/>
          </a:prstGeom>
          <a:noFill/>
          <a:ln>
            <a:noFill/>
          </a:ln>
        </p:spPr>
        <p:txBody>
          <a:bodyPr spcFirstLastPara="1" wrap="square" lIns="91425" tIns="45700" rIns="91425" bIns="45700" anchor="t" anchorCtr="0">
            <a:normAutofit lnSpcReduction="10000"/>
          </a:bodyPr>
          <a:lstStyle/>
          <a:p>
            <a:pPr marL="0" indent="0">
              <a:spcBef>
                <a:spcPts val="0"/>
              </a:spcBef>
              <a:buNone/>
            </a:pPr>
            <a:r>
              <a:rPr lang="en-IN" sz="2400" b="1"/>
              <a:t>Design: </a:t>
            </a:r>
            <a:r>
              <a:rPr lang="en-IN" sz="2400"/>
              <a:t>This study adopts a mixed-methods approach, combining quantitative data analysis with simulation-based modelling, with the quantitative component being use of numerical data such as PM2.5, PM10 and NO</a:t>
            </a:r>
            <a:r>
              <a:rPr lang="en-IN" sz="2400" baseline="-25000"/>
              <a:t>2</a:t>
            </a:r>
            <a:r>
              <a:rPr lang="en-IN" sz="2400"/>
              <a:t> levels, temperature and humidity. Application of ML models to predict pollution levels, and the qualitative component being evaluating the effectiveness of our interventions.</a:t>
            </a:r>
          </a:p>
          <a:p>
            <a:pPr marL="0" indent="0">
              <a:buNone/>
            </a:pPr>
            <a:r>
              <a:rPr lang="en-IN" sz="2400" b="1"/>
              <a:t>Data Collection Methods: </a:t>
            </a:r>
            <a:r>
              <a:rPr lang="en-IN" sz="2400"/>
              <a:t>Data will be collected from secondary and simulated sources like government and global datasets (CPCB, </a:t>
            </a:r>
            <a:r>
              <a:rPr lang="en-IN" sz="2400" err="1"/>
              <a:t>OpenAQ</a:t>
            </a:r>
            <a:r>
              <a:rPr lang="en-IN" sz="2400"/>
              <a:t>).We also use simulation data using "what-if" scenarios.</a:t>
            </a:r>
            <a:endParaRPr lang="en-US" sz="2400"/>
          </a:p>
          <a:p>
            <a:pPr marL="50800" indent="0">
              <a:buNone/>
            </a:pPr>
            <a:r>
              <a:rPr lang="en-IN" sz="2400" b="1"/>
              <a:t>Data Analysis Techniques: </a:t>
            </a:r>
            <a:r>
              <a:rPr lang="en-IN" sz="2400"/>
              <a:t>Machine Learning Analysis:</a:t>
            </a:r>
          </a:p>
          <a:p>
            <a:r>
              <a:rPr lang="en-IN" sz="2400"/>
              <a:t>ML Model [Linear Regression (baseline),Random Forest (improved accuracy)]</a:t>
            </a:r>
          </a:p>
          <a:p>
            <a:pPr marL="228600" lvl="0" indent="-228600" algn="l">
              <a:lnSpc>
                <a:spcPct val="90000"/>
              </a:lnSpc>
              <a:spcBef>
                <a:spcPts val="1000"/>
              </a:spcBef>
              <a:spcAft>
                <a:spcPts val="0"/>
              </a:spcAft>
              <a:buClr>
                <a:srgbClr val="002060"/>
              </a:buClr>
              <a:buSzPts val="2800"/>
              <a:buFont typeface="Arial"/>
              <a:buChar char="•"/>
            </a:pPr>
            <a:endParaRPr lang="en-IN" sz="2400" b="1"/>
          </a:p>
          <a:p>
            <a:pPr marL="228600" indent="-228600"/>
            <a:r>
              <a:rPr lang="en-IN" sz="2400" b="1"/>
              <a:t>Tools and Resources Used: Python, </a:t>
            </a:r>
            <a:r>
              <a:rPr lang="en-IN" sz="2400" b="1" err="1"/>
              <a:t>OpenStreetMaps</a:t>
            </a:r>
            <a:r>
              <a:rPr lang="en-IN" sz="2400" b="1"/>
              <a:t> (OSM), TensorFlow, </a:t>
            </a:r>
            <a:r>
              <a:rPr lang="en-IN" sz="2400" b="1" err="1"/>
              <a:t>Keras</a:t>
            </a:r>
            <a:endParaRPr lang="en-IN" sz="2400" err="1"/>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pic>
        <p:nvPicPr>
          <p:cNvPr id="3" name="Picture 2">
            <a:extLst>
              <a:ext uri="{FF2B5EF4-FFF2-40B4-BE49-F238E27FC236}">
                <a16:creationId xmlns:a16="http://schemas.microsoft.com/office/drawing/2014/main" id="{E3E5F947-18D0-5A11-A0A5-72A0DD765BDA}"/>
              </a:ext>
            </a:extLst>
          </p:cNvPr>
          <p:cNvPicPr>
            <a:picLocks noChangeAspect="1"/>
          </p:cNvPicPr>
          <p:nvPr/>
        </p:nvPicPr>
        <p:blipFill>
          <a:blip r:embed="rId3"/>
          <a:stretch>
            <a:fillRect/>
          </a:stretch>
        </p:blipFill>
        <p:spPr>
          <a:xfrm>
            <a:off x="420624" y="1172976"/>
            <a:ext cx="11350752" cy="48406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92500" lnSpcReduction="10000"/>
          </a:bodyPr>
          <a:lstStyle/>
          <a:p>
            <a:pPr>
              <a:buFont typeface="Arial" panose="020B0604020202020204" pitchFamily="34" charset="0"/>
              <a:buChar char="•"/>
            </a:pPr>
            <a:r>
              <a:rPr lang="en-IN" sz="2000" b="1"/>
              <a:t>Expected Results: </a:t>
            </a:r>
          </a:p>
          <a:p>
            <a:pPr lvl="1">
              <a:buClr>
                <a:srgbClr val="000000"/>
              </a:buClr>
              <a:buSzPts val="2800"/>
              <a:buFont typeface="Arial" panose="020B0604020202020204" pitchFamily="34" charset="0"/>
              <a:buChar char="•"/>
            </a:pPr>
            <a:r>
              <a:rPr lang="en-IN" sz="2000">
                <a:solidFill>
                  <a:srgbClr val="002060"/>
                </a:solidFill>
              </a:rPr>
              <a:t>Develop a predictive model to forecast AQI and major air pollutant concentrations at the local urban level. </a:t>
            </a:r>
          </a:p>
          <a:p>
            <a:pPr lvl="1" indent="-406400">
              <a:buClr>
                <a:srgbClr val="000000"/>
              </a:buClr>
              <a:buSzPts val="2800"/>
              <a:buFont typeface="Arial" panose="020B0604020202020204" pitchFamily="34" charset="0"/>
              <a:buChar char="•"/>
            </a:pPr>
            <a:r>
              <a:rPr lang="en-IN" sz="2000">
                <a:solidFill>
                  <a:srgbClr val="002060"/>
                </a:solidFill>
              </a:rPr>
              <a:t>Build a simulation framework to test different intervention strategies before real-world implementation. </a:t>
            </a:r>
          </a:p>
          <a:p>
            <a:pPr lvl="1" indent="-406400">
              <a:buClr>
                <a:srgbClr val="000000"/>
              </a:buClr>
              <a:buSzPts val="2800"/>
              <a:buFont typeface="Arial" panose="020B0604020202020204" pitchFamily="34" charset="0"/>
              <a:buChar char="•"/>
            </a:pPr>
            <a:r>
              <a:rPr lang="en-IN" sz="2000">
                <a:solidFill>
                  <a:srgbClr val="002060"/>
                </a:solidFill>
              </a:rPr>
              <a:t>Identify the most effective combination of solutions to minimize pollution under practical constraints.</a:t>
            </a:r>
          </a:p>
          <a:p>
            <a:pPr marL="228600" indent="-228600">
              <a:spcBef>
                <a:spcPts val="0"/>
              </a:spcBef>
            </a:pPr>
            <a:endParaRPr lang="en-IN" sz="2000" b="1"/>
          </a:p>
          <a:p>
            <a:r>
              <a:rPr lang="en-IN" sz="2000" b="1"/>
              <a:t>Potential Impact on the Field: </a:t>
            </a:r>
          </a:p>
          <a:p>
            <a:pPr lvl="1" indent="-406400">
              <a:buClr>
                <a:srgbClr val="000000"/>
              </a:buClr>
              <a:buSzPts val="2800"/>
              <a:buFont typeface="Arial" panose="020B0604020202020204" pitchFamily="34" charset="0"/>
              <a:buChar char="•"/>
            </a:pPr>
            <a:r>
              <a:rPr lang="en-IN" sz="2000">
                <a:solidFill>
                  <a:srgbClr val="002060"/>
                </a:solidFill>
              </a:rPr>
              <a:t>Support data-driven policy design for urban air quality management.</a:t>
            </a:r>
            <a:endParaRPr lang="en-IN" sz="2000"/>
          </a:p>
          <a:p>
            <a:pPr lvl="1" indent="-406400">
              <a:buClr>
                <a:srgbClr val="000000"/>
              </a:buClr>
              <a:buSzPts val="2800"/>
              <a:buFont typeface="Arial" panose="020B0604020202020204" pitchFamily="34" charset="0"/>
              <a:buChar char="•"/>
            </a:pPr>
            <a:r>
              <a:rPr lang="en-IN" sz="2000">
                <a:solidFill>
                  <a:srgbClr val="002060"/>
                </a:solidFill>
              </a:rPr>
              <a:t>Help city authorities take preventive action before pollution levels become critical. </a:t>
            </a:r>
          </a:p>
          <a:p>
            <a:pPr lvl="1" indent="-406400">
              <a:buClr>
                <a:srgbClr val="000000"/>
              </a:buClr>
              <a:buSzPts val="2800"/>
              <a:buFont typeface="Arial" panose="020B0604020202020204" pitchFamily="34" charset="0"/>
              <a:buChar char="•"/>
            </a:pPr>
            <a:r>
              <a:rPr lang="en-IN" sz="2000">
                <a:solidFill>
                  <a:srgbClr val="002060"/>
                </a:solidFill>
              </a:rPr>
              <a:t>Contribute to sustainable urban development and public health protection.</a:t>
            </a:r>
            <a:br>
              <a:rPr lang="en-IN" sz="2000"/>
            </a:br>
            <a:endParaRPr lang="en-IN" sz="2000"/>
          </a:p>
          <a:p>
            <a:pPr marL="228600" lvl="0" indent="-228600" algn="l" rtl="0">
              <a:lnSpc>
                <a:spcPct val="90000"/>
              </a:lnSpc>
              <a:spcBef>
                <a:spcPts val="1000"/>
              </a:spcBef>
              <a:spcAft>
                <a:spcPts val="0"/>
              </a:spcAft>
              <a:buClr>
                <a:srgbClr val="002060"/>
              </a:buClr>
              <a:buSzPts val="2800"/>
              <a:buChar char="•"/>
            </a:pPr>
            <a:r>
              <a:rPr lang="en-IN" sz="2000" b="1"/>
              <a:t>Future Research Directions:</a:t>
            </a:r>
            <a:r>
              <a:rPr lang="en-IN" sz="2000"/>
              <a:t> </a:t>
            </a:r>
          </a:p>
          <a:p>
            <a:pPr marL="685800" lvl="1" indent="-228600">
              <a:spcBef>
                <a:spcPts val="1000"/>
              </a:spcBef>
              <a:buClr>
                <a:srgbClr val="002060"/>
              </a:buClr>
              <a:buSzPts val="2800"/>
            </a:pPr>
            <a:r>
              <a:rPr lang="en-IN" sz="2000">
                <a:solidFill>
                  <a:srgbClr val="002060"/>
                </a:solidFill>
              </a:rPr>
              <a:t>Extend the work into a larger consolidated and scalable prediction framework.</a:t>
            </a:r>
            <a:endParaRPr lang="en-IN" sz="2000">
              <a:solidFill>
                <a:srgbClr val="000000"/>
              </a:solidFill>
            </a:endParaRPr>
          </a:p>
          <a:p>
            <a:pPr marL="685800" lvl="1" indent="-228600">
              <a:spcBef>
                <a:spcPts val="1000"/>
              </a:spcBef>
              <a:buClr>
                <a:srgbClr val="002060"/>
              </a:buClr>
              <a:buSzPts val="2800"/>
            </a:pPr>
            <a:r>
              <a:rPr lang="en-IN" sz="2000">
                <a:solidFill>
                  <a:srgbClr val="002060"/>
                </a:solidFill>
              </a:rPr>
              <a:t>Integrate additional real-time data sources and more advanced ML/deep learning models. </a:t>
            </a:r>
            <a:endParaRPr lang="en-IN" sz="2000">
              <a:solidFill>
                <a:srgbClr val="000000"/>
              </a:solidFill>
            </a:endParaRPr>
          </a:p>
          <a:p>
            <a:pPr marL="685800" lvl="1" indent="-228600">
              <a:spcBef>
                <a:spcPts val="1000"/>
              </a:spcBef>
              <a:buClr>
                <a:srgbClr val="002060"/>
              </a:buClr>
              <a:buSzPts val="2800"/>
            </a:pPr>
            <a:r>
              <a:rPr lang="en-IN" sz="2000">
                <a:solidFill>
                  <a:srgbClr val="002060"/>
                </a:solidFill>
              </a:rPr>
              <a:t>Expand simulations to evaluate long-term preventive methods across different cities.</a:t>
            </a:r>
            <a:endParaRPr lang="en-IN" sz="2000"/>
          </a:p>
          <a:p>
            <a:pPr marL="279400" lvl="1" indent="0">
              <a:buClr>
                <a:srgbClr val="000000"/>
              </a:buClr>
              <a:buSzPts val="2800"/>
              <a:buNone/>
            </a:pPr>
            <a:endParaRPr lang="en-IN" sz="2000">
              <a:solidFill>
                <a:srgbClr val="002060"/>
              </a:solidFill>
            </a:endParaRPr>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02060"/>
              </a:buClr>
              <a:buSzPct val="100000"/>
              <a:buChar char="•"/>
            </a:pPr>
            <a:r>
              <a:rPr lang="en-IN" b="1"/>
              <a:t>Project Timeline Overview</a:t>
            </a:r>
            <a:endParaRPr/>
          </a:p>
          <a:p>
            <a:pPr marL="228600" lvl="0" indent="-228600" algn="l" rtl="0">
              <a:lnSpc>
                <a:spcPct val="90000"/>
              </a:lnSpc>
              <a:spcBef>
                <a:spcPts val="1000"/>
              </a:spcBef>
              <a:spcAft>
                <a:spcPts val="0"/>
              </a:spcAft>
              <a:buClr>
                <a:srgbClr val="002060"/>
              </a:buClr>
              <a:buSzPct val="100000"/>
              <a:buChar char="•"/>
            </a:pPr>
            <a:r>
              <a:rPr lang="en-IN" b="1"/>
              <a:t>Initiation Phase (Weeks 1-2)</a:t>
            </a:r>
            <a:endParaRPr/>
          </a:p>
          <a:p>
            <a:pPr marL="685800" lvl="1" indent="-228600" algn="l" rtl="0">
              <a:lnSpc>
                <a:spcPct val="90000"/>
              </a:lnSpc>
              <a:spcBef>
                <a:spcPts val="500"/>
              </a:spcBef>
              <a:spcAft>
                <a:spcPts val="0"/>
              </a:spcAft>
              <a:buClr>
                <a:schemeClr val="dk1"/>
              </a:buClr>
              <a:buSzPct val="100000"/>
              <a:buChar char="•"/>
            </a:pPr>
            <a:r>
              <a:rPr lang="en-IN"/>
              <a:t>Define project goals and objectives.</a:t>
            </a:r>
            <a:endParaRPr/>
          </a:p>
          <a:p>
            <a:pPr marL="685800" lvl="1" indent="-228600" algn="l" rtl="0">
              <a:lnSpc>
                <a:spcPct val="90000"/>
              </a:lnSpc>
              <a:spcBef>
                <a:spcPts val="500"/>
              </a:spcBef>
              <a:spcAft>
                <a:spcPts val="0"/>
              </a:spcAft>
              <a:buClr>
                <a:schemeClr val="dk1"/>
              </a:buClr>
              <a:buSzPct val="100000"/>
              <a:buChar char="•"/>
            </a:pPr>
            <a:r>
              <a:rPr lang="en-IN"/>
              <a:t>Identify group members and resources.</a:t>
            </a:r>
            <a:endParaRPr/>
          </a:p>
          <a:p>
            <a:pPr marL="685800" lvl="1" indent="-228600" algn="l" rtl="0">
              <a:lnSpc>
                <a:spcPct val="90000"/>
              </a:lnSpc>
              <a:spcBef>
                <a:spcPts val="500"/>
              </a:spcBef>
              <a:spcAft>
                <a:spcPts val="0"/>
              </a:spcAft>
              <a:buClr>
                <a:schemeClr val="dk1"/>
              </a:buClr>
              <a:buSzPct val="100000"/>
              <a:buChar char="•"/>
            </a:pPr>
            <a:r>
              <a:rPr lang="en-IN"/>
              <a:t>Conduct feasibility studies.</a:t>
            </a:r>
            <a:endParaRPr/>
          </a:p>
          <a:p>
            <a:pPr marL="228600" lvl="0" indent="-228600" algn="l" rtl="0">
              <a:lnSpc>
                <a:spcPct val="90000"/>
              </a:lnSpc>
              <a:spcBef>
                <a:spcPts val="1000"/>
              </a:spcBef>
              <a:spcAft>
                <a:spcPts val="0"/>
              </a:spcAft>
              <a:buClr>
                <a:srgbClr val="002060"/>
              </a:buClr>
              <a:buSzPct val="100000"/>
              <a:buChar char="•"/>
            </a:pPr>
            <a:r>
              <a:rPr lang="en-IN" b="1"/>
              <a:t>Planning Phase (Weeks 3-4)</a:t>
            </a:r>
            <a:endParaRPr/>
          </a:p>
          <a:p>
            <a:pPr marL="685800" lvl="1" indent="-228600" algn="l" rtl="0">
              <a:lnSpc>
                <a:spcPct val="90000"/>
              </a:lnSpc>
              <a:spcBef>
                <a:spcPts val="500"/>
              </a:spcBef>
              <a:spcAft>
                <a:spcPts val="0"/>
              </a:spcAft>
              <a:buClr>
                <a:schemeClr val="dk1"/>
              </a:buClr>
              <a:buSzPct val="100000"/>
              <a:buChar char="•"/>
            </a:pPr>
            <a:r>
              <a:rPr lang="en-IN"/>
              <a:t>Develop a detailed project plan, including tasks and timelines.</a:t>
            </a:r>
            <a:endParaRPr/>
          </a:p>
          <a:p>
            <a:pPr marL="685800" lvl="1" indent="-228600" algn="l" rtl="0">
              <a:lnSpc>
                <a:spcPct val="90000"/>
              </a:lnSpc>
              <a:spcBef>
                <a:spcPts val="500"/>
              </a:spcBef>
              <a:spcAft>
                <a:spcPts val="0"/>
              </a:spcAft>
              <a:buClr>
                <a:schemeClr val="dk1"/>
              </a:buClr>
              <a:buSzPct val="100000"/>
              <a:buChar char="•"/>
            </a:pPr>
            <a:r>
              <a:rPr lang="en-IN"/>
              <a:t>Allocate resources and assign responsibilities.</a:t>
            </a:r>
            <a:endParaRPr/>
          </a:p>
          <a:p>
            <a:pPr marL="685800" lvl="1" indent="-228600" algn="l" rtl="0">
              <a:lnSpc>
                <a:spcPct val="90000"/>
              </a:lnSpc>
              <a:spcBef>
                <a:spcPts val="500"/>
              </a:spcBef>
              <a:spcAft>
                <a:spcPts val="0"/>
              </a:spcAft>
              <a:buClr>
                <a:schemeClr val="dk1"/>
              </a:buClr>
              <a:buSzPct val="100000"/>
              <a:buChar char="•"/>
            </a:pPr>
            <a:r>
              <a:rPr lang="en-IN"/>
              <a:t>Create a budget plan.</a:t>
            </a:r>
            <a:endParaRPr/>
          </a:p>
          <a:p>
            <a:pPr marL="228600" lvl="0" indent="-228600" algn="l" rtl="0">
              <a:lnSpc>
                <a:spcPct val="90000"/>
              </a:lnSpc>
              <a:spcBef>
                <a:spcPts val="1000"/>
              </a:spcBef>
              <a:spcAft>
                <a:spcPts val="0"/>
              </a:spcAft>
              <a:buClr>
                <a:srgbClr val="002060"/>
              </a:buClr>
              <a:buSzPct val="100000"/>
              <a:buChar char="•"/>
            </a:pPr>
            <a:r>
              <a:rPr lang="en-IN" b="1"/>
              <a:t>Execution Phase (Weeks 5-10)</a:t>
            </a:r>
            <a:endParaRPr/>
          </a:p>
          <a:p>
            <a:pPr marL="685800" lvl="1" indent="-228600" algn="l" rtl="0">
              <a:lnSpc>
                <a:spcPct val="90000"/>
              </a:lnSpc>
              <a:spcBef>
                <a:spcPts val="500"/>
              </a:spcBef>
              <a:spcAft>
                <a:spcPts val="0"/>
              </a:spcAft>
              <a:buClr>
                <a:schemeClr val="dk1"/>
              </a:buClr>
              <a:buSzPct val="100000"/>
              <a:buChar char="•"/>
            </a:pPr>
            <a:r>
              <a:rPr lang="en-IN"/>
              <a:t>Begin project work according to the project plan.</a:t>
            </a:r>
            <a:endParaRPr/>
          </a:p>
          <a:p>
            <a:pPr marL="685800" lvl="1" indent="-228600" algn="l" rtl="0">
              <a:lnSpc>
                <a:spcPct val="90000"/>
              </a:lnSpc>
              <a:spcBef>
                <a:spcPts val="500"/>
              </a:spcBef>
              <a:spcAft>
                <a:spcPts val="0"/>
              </a:spcAft>
              <a:buClr>
                <a:schemeClr val="dk1"/>
              </a:buClr>
              <a:buSzPct val="100000"/>
              <a:buChar char="•"/>
            </a:pPr>
            <a:r>
              <a:rPr lang="en-IN"/>
              <a:t>Hold regular team meetings to monitor progress.</a:t>
            </a:r>
            <a:endParaRPr/>
          </a:p>
          <a:p>
            <a:pPr marL="685800" lvl="1" indent="-228600" algn="l" rtl="0">
              <a:lnSpc>
                <a:spcPct val="90000"/>
              </a:lnSpc>
              <a:spcBef>
                <a:spcPts val="500"/>
              </a:spcBef>
              <a:spcAft>
                <a:spcPts val="0"/>
              </a:spcAft>
              <a:buClr>
                <a:schemeClr val="dk1"/>
              </a:buClr>
              <a:buSzPct val="100000"/>
              <a:buChar char="•"/>
            </a:pPr>
            <a:r>
              <a:rPr lang="en-IN"/>
              <a:t>Implement communication strategies with group members.</a:t>
            </a:r>
            <a:endParaRPr/>
          </a:p>
          <a:p>
            <a:pPr marL="228600" lvl="0" indent="-228600" algn="l" rtl="0">
              <a:lnSpc>
                <a:spcPct val="90000"/>
              </a:lnSpc>
              <a:spcBef>
                <a:spcPts val="1000"/>
              </a:spcBef>
              <a:spcAft>
                <a:spcPts val="0"/>
              </a:spcAft>
              <a:buClr>
                <a:srgbClr val="002060"/>
              </a:buClr>
              <a:buSzPct val="100000"/>
              <a:buChar char="•"/>
            </a:pPr>
            <a:r>
              <a:rPr lang="en-IN" b="1"/>
              <a:t>Closure Phase (Weeks 11-13)</a:t>
            </a:r>
            <a:endParaRPr/>
          </a:p>
          <a:p>
            <a:pPr marL="685800" lvl="1" indent="-228600" algn="l" rtl="0">
              <a:lnSpc>
                <a:spcPct val="90000"/>
              </a:lnSpc>
              <a:spcBef>
                <a:spcPts val="500"/>
              </a:spcBef>
              <a:spcAft>
                <a:spcPts val="0"/>
              </a:spcAft>
              <a:buClr>
                <a:schemeClr val="dk1"/>
              </a:buClr>
              <a:buSzPct val="100000"/>
              <a:buChar char="•"/>
            </a:pPr>
            <a:r>
              <a:rPr lang="en-IN"/>
              <a:t>Complete final deliverables and obtain panel approval.</a:t>
            </a:r>
            <a:endParaRPr/>
          </a:p>
          <a:p>
            <a:pPr marL="685800" lvl="1" indent="-228600" algn="l" rtl="0">
              <a:lnSpc>
                <a:spcPct val="90000"/>
              </a:lnSpc>
              <a:spcBef>
                <a:spcPts val="500"/>
              </a:spcBef>
              <a:spcAft>
                <a:spcPts val="0"/>
              </a:spcAft>
              <a:buClr>
                <a:schemeClr val="dk1"/>
              </a:buClr>
              <a:buSzPct val="100000"/>
              <a:buChar char="•"/>
            </a:pPr>
            <a:r>
              <a:rPr lang="en-IN"/>
              <a:t>Present in project review and document lessons learned.</a:t>
            </a:r>
            <a:endParaRPr/>
          </a:p>
          <a:p>
            <a:pPr marL="685800" lvl="1" indent="-228600" algn="l" rtl="0">
              <a:lnSpc>
                <a:spcPct val="90000"/>
              </a:lnSpc>
              <a:spcBef>
                <a:spcPts val="500"/>
              </a:spcBef>
              <a:spcAft>
                <a:spcPts val="0"/>
              </a:spcAft>
              <a:buClr>
                <a:schemeClr val="dk1"/>
              </a:buClr>
              <a:buSzPct val="100000"/>
              <a:buChar char="•"/>
            </a:pPr>
            <a:r>
              <a:rPr lang="en-IN"/>
              <a:t>Formally close the project.</a:t>
            </a:r>
            <a:endParaRPr/>
          </a:p>
          <a:p>
            <a:pPr marL="228600" lvl="0" indent="-77470" algn="l" rtl="0">
              <a:lnSpc>
                <a:spcPct val="90000"/>
              </a:lnSpc>
              <a:spcBef>
                <a:spcPts val="1000"/>
              </a:spcBef>
              <a:spcAft>
                <a:spcPts val="0"/>
              </a:spcAft>
              <a:buClr>
                <a:srgbClr val="002060"/>
              </a:buClr>
              <a:buSzPct val="100000"/>
              <a:buNone/>
            </a:pPr>
            <a:endParaRPr/>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rgbClr val="002060"/>
              </a:buClr>
              <a:buSzPts val="2800"/>
              <a:buChar char="•"/>
            </a:pPr>
            <a:r>
              <a:rPr lang="en-US" sz="2400" b="1"/>
              <a:t>Summary of Key Points: </a:t>
            </a:r>
          </a:p>
          <a:p>
            <a:pPr marL="0" lvl="0" indent="0" algn="l" rtl="0">
              <a:lnSpc>
                <a:spcPct val="90000"/>
              </a:lnSpc>
              <a:spcBef>
                <a:spcPts val="0"/>
              </a:spcBef>
              <a:spcAft>
                <a:spcPts val="0"/>
              </a:spcAft>
              <a:buClr>
                <a:srgbClr val="002060"/>
              </a:buClr>
              <a:buSzPts val="2800"/>
              <a:buNone/>
            </a:pPr>
            <a:endParaRPr lang="en-US" sz="2400" b="1"/>
          </a:p>
          <a:p>
            <a:pPr marL="228600" lvl="0" indent="-228600">
              <a:spcBef>
                <a:spcPts val="0"/>
              </a:spcBef>
            </a:pPr>
            <a:r>
              <a:rPr lang="en-US" sz="2400"/>
              <a:t>Data-Driven Decision Making: The system begins with AQI Data Gathering, using a variance-based check to determine if existing data is sufficient or if additional sources are required.</a:t>
            </a:r>
          </a:p>
          <a:p>
            <a:pPr marL="228600" lvl="0" indent="-228600">
              <a:spcBef>
                <a:spcPts val="0"/>
              </a:spcBef>
            </a:pPr>
            <a:endParaRPr lang="en-US" sz="2400"/>
          </a:p>
          <a:p>
            <a:pPr marL="228600" lvl="0" indent="-228600">
              <a:spcBef>
                <a:spcPts val="0"/>
              </a:spcBef>
            </a:pPr>
            <a:r>
              <a:rPr lang="en-US" sz="2400"/>
              <a:t>Hybrid Methodology: The process branches into two primary paths: a Chemical Solution track for immediate remediation and an ML Optimization track for long-term predictive accuracy.</a:t>
            </a:r>
          </a:p>
          <a:p>
            <a:pPr marL="228600" lvl="0" indent="-228600">
              <a:spcBef>
                <a:spcPts val="0"/>
              </a:spcBef>
            </a:pPr>
            <a:endParaRPr lang="en-US" sz="2400"/>
          </a:p>
          <a:p>
            <a:pPr marL="228600" lvl="0" indent="-228600">
              <a:spcBef>
                <a:spcPts val="0"/>
              </a:spcBef>
            </a:pPr>
            <a:r>
              <a:rPr lang="en-US" sz="2400"/>
              <a:t>Iterative Refinement: Continuous feedback loops ensure that ML parameters are adjusted and simulations are analyzed to achieve the "Best Results with Least Effort."</a:t>
            </a:r>
          </a:p>
          <a:p>
            <a:pPr marL="228600" lvl="0" indent="-228600">
              <a:spcBef>
                <a:spcPts val="0"/>
              </a:spcBef>
            </a:pPr>
            <a:endParaRPr lang="en-US" sz="2400"/>
          </a:p>
          <a:p>
            <a:pPr marL="228600" lvl="0" indent="-228600">
              <a:spcBef>
                <a:spcPts val="0"/>
              </a:spcBef>
            </a:pPr>
            <a:r>
              <a:rPr lang="en-US" sz="2400"/>
              <a:t>Validation &amp; Monitoring: Every solution is put through a rigorous Effectiveness Evaluation and data accuracy check before being aggregated into public-facing AQI Monitoring Websites.</a:t>
            </a:r>
            <a:endParaRPr lang="en-US" sz="2400" b="1"/>
          </a:p>
          <a:p>
            <a:pPr marL="228600" lvl="0" indent="-228600" algn="l" rtl="0">
              <a:lnSpc>
                <a:spcPct val="90000"/>
              </a:lnSpc>
              <a:spcBef>
                <a:spcPts val="0"/>
              </a:spcBef>
              <a:spcAft>
                <a:spcPts val="0"/>
              </a:spcAft>
              <a:buClr>
                <a:srgbClr val="002060"/>
              </a:buClr>
              <a:buSzPts val="2800"/>
              <a:buChar char="•"/>
            </a:pPr>
            <a:endParaRPr lang="en-US" sz="2400" b="1"/>
          </a:p>
          <a:p>
            <a:pPr marL="228600" lvl="0" indent="-228600">
              <a:spcBef>
                <a:spcPts val="0"/>
              </a:spcBef>
            </a:pPr>
            <a:r>
              <a:rPr lang="en-US" sz="2400"/>
              <a:t>By integrating traditional chemical measures with modern machine learning algorithms, we create a self-correcting ecosystem. This model doesn't just react to poor air quality; it learns from every intervention to predict and mitigate future pollution spikes more efficiently.</a:t>
            </a:r>
            <a:endParaRPr lang="en-US" sz="2400" b="1"/>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
        <p:nvSpPr>
          <p:cNvPr id="4" name="TextBox 3">
            <a:extLst>
              <a:ext uri="{FF2B5EF4-FFF2-40B4-BE49-F238E27FC236}">
                <a16:creationId xmlns:a16="http://schemas.microsoft.com/office/drawing/2014/main" id="{55C2D174-E865-17F8-5A93-71FCCB207133}"/>
              </a:ext>
            </a:extLst>
          </p:cNvPr>
          <p:cNvSpPr txBox="1"/>
          <p:nvPr/>
        </p:nvSpPr>
        <p:spPr>
          <a:xfrm>
            <a:off x="228600" y="1481328"/>
            <a:ext cx="11594592" cy="5047536"/>
          </a:xfrm>
          <a:prstGeom prst="rect">
            <a:avLst/>
          </a:prstGeom>
          <a:noFill/>
        </p:spPr>
        <p:txBody>
          <a:bodyPr wrap="square" rtlCol="0">
            <a:spAutoFit/>
          </a:bodyPr>
          <a:lstStyle/>
          <a:p>
            <a:r>
              <a:rPr lang="en-IN"/>
              <a:t>[1] Gupta, N. S., </a:t>
            </a:r>
            <a:r>
              <a:rPr lang="en-IN" err="1"/>
              <a:t>Mohta</a:t>
            </a:r>
            <a:r>
              <a:rPr lang="en-IN"/>
              <a:t>, Y., Heda, K., Armaan, R., Valarmathi, B., &amp; Arulkumaran, G. (2023). Prediction of air quality index using machine learning techniques: a comparative analysis. </a:t>
            </a:r>
            <a:r>
              <a:rPr lang="en-IN" i="1"/>
              <a:t>Journal of Environmental and Public Health</a:t>
            </a:r>
            <a:r>
              <a:rPr lang="en-IN"/>
              <a:t>, </a:t>
            </a:r>
            <a:r>
              <a:rPr lang="en-IN" i="1"/>
              <a:t>2023</a:t>
            </a:r>
            <a:r>
              <a:rPr lang="en-IN"/>
              <a:t>(1), 4916267.</a:t>
            </a:r>
          </a:p>
          <a:p>
            <a:endParaRPr lang="en-IN"/>
          </a:p>
          <a:p>
            <a:r>
              <a:rPr lang="en-US"/>
              <a:t>[2] Janarthanan, R., Partheeban, P., Somasundaram, K., &amp; Elamparithi, P. N. (2021). A deep learning approach for prediction of air quality index in a metropolitan city. </a:t>
            </a:r>
            <a:r>
              <a:rPr lang="en-US" i="1"/>
              <a:t>Sustainable Cities and Society</a:t>
            </a:r>
            <a:r>
              <a:rPr lang="en-US"/>
              <a:t>, </a:t>
            </a:r>
            <a:r>
              <a:rPr lang="en-US" i="1"/>
              <a:t>67</a:t>
            </a:r>
            <a:r>
              <a:rPr lang="en-US"/>
              <a:t>, 102720.</a:t>
            </a:r>
          </a:p>
          <a:p>
            <a:endParaRPr lang="en-US"/>
          </a:p>
          <a:p>
            <a:r>
              <a:rPr lang="en-IN"/>
              <a:t>[3] Bansal, K., &amp; Srivastava, V. (2024, August). Sustainable Solutions for Delhi's Air Pollution: A Data Driven Approach. In </a:t>
            </a:r>
            <a:r>
              <a:rPr lang="en-IN" i="1"/>
              <a:t>International Conference on Advanced Materials for Sustainable Innovation</a:t>
            </a:r>
            <a:r>
              <a:rPr lang="en-IN"/>
              <a:t> (pp. 143-157). Singapore: Springer Nature Singapore.</a:t>
            </a:r>
          </a:p>
          <a:p>
            <a:endParaRPr lang="en-IN"/>
          </a:p>
          <a:p>
            <a:r>
              <a:rPr lang="en-US"/>
              <a:t>[4] Mukendi, C. M., &amp; Choi, H. (2024). Air quality forecasting using machine learning: A global perspective with relevance to low-resource settings. Review of Integrative Business and Economics Research, 13(4), 605–619.</a:t>
            </a:r>
          </a:p>
          <a:p>
            <a:endParaRPr lang="en-US"/>
          </a:p>
          <a:p>
            <a:r>
              <a:rPr lang="en-US"/>
              <a:t>[5] Seinfeld, J. H., &amp; </a:t>
            </a:r>
            <a:r>
              <a:rPr lang="en-US" err="1"/>
              <a:t>Pandis</a:t>
            </a:r>
            <a:r>
              <a:rPr lang="en-US"/>
              <a:t>, S. N. (2016). </a:t>
            </a:r>
            <a:r>
              <a:rPr lang="en-US" i="1"/>
              <a:t>Atmospheric chemistry and physics: from air pollution to climate change</a:t>
            </a:r>
            <a:r>
              <a:rPr lang="en-US"/>
              <a:t>. John Wiley &amp; Sons.</a:t>
            </a:r>
          </a:p>
          <a:p>
            <a:endParaRPr lang="en-US"/>
          </a:p>
          <a:p>
            <a:r>
              <a:rPr lang="en-US"/>
              <a:t>[6] </a:t>
            </a:r>
            <a:r>
              <a:rPr lang="en-US" err="1"/>
              <a:t>Maltare</a:t>
            </a:r>
            <a:r>
              <a:rPr lang="en-US"/>
              <a:t>, N. N., &amp; Vahora, S. (2023). Air Quality Index prediction using machine learning for Ahmedabad city. </a:t>
            </a:r>
            <a:r>
              <a:rPr lang="en-US" i="1"/>
              <a:t>Digital Chemical Engineering</a:t>
            </a:r>
            <a:r>
              <a:rPr lang="en-US"/>
              <a:t>, </a:t>
            </a:r>
            <a:r>
              <a:rPr lang="en-US" i="1"/>
              <a:t>7</a:t>
            </a:r>
            <a:r>
              <a:rPr lang="en-US"/>
              <a:t>, 100093.</a:t>
            </a:r>
          </a:p>
          <a:p>
            <a:endParaRPr lang="en-US"/>
          </a:p>
          <a:p>
            <a:r>
              <a:rPr lang="en-IN"/>
              <a:t>[7] Sarkar, N., Gupta, R., </a:t>
            </a:r>
            <a:r>
              <a:rPr lang="en-IN" err="1"/>
              <a:t>Keserwani</a:t>
            </a:r>
            <a:r>
              <a:rPr lang="en-IN"/>
              <a:t>, P. K., &amp; Govil, M. C. (2022). Air quality index prediction using an effective hybrid deep learning model. </a:t>
            </a:r>
            <a:r>
              <a:rPr lang="en-IN" i="1"/>
              <a:t>Environmental Pollution</a:t>
            </a:r>
            <a:r>
              <a:rPr lang="en-IN"/>
              <a:t>, </a:t>
            </a:r>
            <a:r>
              <a:rPr lang="en-IN" i="1"/>
              <a:t>315</a:t>
            </a:r>
            <a:r>
              <a:rPr lang="en-IN"/>
              <a:t>, 120404.</a:t>
            </a:r>
          </a:p>
          <a:p>
            <a:endParaRPr lang="en-IN"/>
          </a:p>
          <a:p>
            <a:r>
              <a:rPr lang="en-US"/>
              <a:t>[8] Liu, H., Li, Q., Yu, D., &amp; Gu, Y. (2019). Air quality index and air pollutant concentration prediction based on machine learning algorithms. </a:t>
            </a:r>
            <a:r>
              <a:rPr lang="en-US" i="1"/>
              <a:t>Applied sciences</a:t>
            </a:r>
            <a:r>
              <a:rPr lang="en-US"/>
              <a:t>, </a:t>
            </a:r>
            <a:r>
              <a:rPr lang="en-US" i="1"/>
              <a:t>9</a:t>
            </a:r>
            <a:r>
              <a:rPr lang="en-US"/>
              <a:t>(19), 4069.</a:t>
            </a:r>
          </a:p>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E0AFC297-95A0-8F75-E12D-C35507C36D6D}"/>
            </a:ext>
          </a:extLst>
        </p:cNvPr>
        <p:cNvGrpSpPr/>
        <p:nvPr/>
      </p:nvGrpSpPr>
      <p:grpSpPr>
        <a:xfrm>
          <a:off x="0" y="0"/>
          <a:ext cx="0" cy="0"/>
          <a:chOff x="0" y="0"/>
          <a:chExt cx="0" cy="0"/>
        </a:xfrm>
      </p:grpSpPr>
      <p:sp>
        <p:nvSpPr>
          <p:cNvPr id="226" name="Google Shape;226;p14">
            <a:extLst>
              <a:ext uri="{FF2B5EF4-FFF2-40B4-BE49-F238E27FC236}">
                <a16:creationId xmlns:a16="http://schemas.microsoft.com/office/drawing/2014/main" id="{6957F694-714F-E99F-264A-7398EECE9F27}"/>
              </a:ext>
            </a:extLst>
          </p:cNvPr>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27" name="Google Shape;227;p14">
            <a:extLst>
              <a:ext uri="{FF2B5EF4-FFF2-40B4-BE49-F238E27FC236}">
                <a16:creationId xmlns:a16="http://schemas.microsoft.com/office/drawing/2014/main" id="{01AE629E-2DEE-F4CA-BF03-633D808C174F}"/>
              </a:ext>
            </a:extLst>
          </p:cNvPr>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
        <p:nvSpPr>
          <p:cNvPr id="4" name="TextBox 3">
            <a:extLst>
              <a:ext uri="{FF2B5EF4-FFF2-40B4-BE49-F238E27FC236}">
                <a16:creationId xmlns:a16="http://schemas.microsoft.com/office/drawing/2014/main" id="{53AFC609-A7AC-AF6F-8687-34C41D50C351}"/>
              </a:ext>
            </a:extLst>
          </p:cNvPr>
          <p:cNvSpPr txBox="1"/>
          <p:nvPr/>
        </p:nvSpPr>
        <p:spPr>
          <a:xfrm>
            <a:off x="228600" y="1481328"/>
            <a:ext cx="11594592" cy="3108543"/>
          </a:xfrm>
          <a:prstGeom prst="rect">
            <a:avLst/>
          </a:prstGeom>
          <a:noFill/>
        </p:spPr>
        <p:txBody>
          <a:bodyPr wrap="square" lIns="91440" tIns="45720" rIns="91440" bIns="45720" rtlCol="0" anchor="t">
            <a:spAutoFit/>
          </a:bodyPr>
          <a:lstStyle/>
          <a:p>
            <a:r>
              <a:rPr lang="en-IN"/>
              <a:t>[9] Kalantari, E., Gholami, H., </a:t>
            </a:r>
            <a:r>
              <a:rPr lang="en-IN" err="1"/>
              <a:t>Malakooti</a:t>
            </a:r>
            <a:r>
              <a:rPr lang="en-IN"/>
              <a:t>, H., </a:t>
            </a:r>
            <a:r>
              <a:rPr lang="en-IN" err="1"/>
              <a:t>Nafarzadegan</a:t>
            </a:r>
            <a:r>
              <a:rPr lang="en-IN"/>
              <a:t>, A. R., &amp; Moosavi, V. (2024). Machine learning for air quality index (AQI) forecasting: shallow learning or deep learning?. </a:t>
            </a:r>
            <a:r>
              <a:rPr lang="en-IN" i="1"/>
              <a:t>Environmental Science and Pollution Research</a:t>
            </a:r>
            <a:r>
              <a:rPr lang="en-IN"/>
              <a:t>, </a:t>
            </a:r>
            <a:r>
              <a:rPr lang="en-IN" i="1"/>
              <a:t>31</a:t>
            </a:r>
            <a:r>
              <a:rPr lang="en-IN"/>
              <a:t>(54), 62962-62982.</a:t>
            </a:r>
          </a:p>
          <a:p>
            <a:endParaRPr lang="en-IN"/>
          </a:p>
          <a:p>
            <a:r>
              <a:rPr lang="en-US"/>
              <a:t>[10] Upadhyay, A. K., &amp; Shah, S. R. (2025). Machine learning-based prediction of air quality index (AQI) in Mumbai: Comparative analysis of linear regression, random forest, and </a:t>
            </a:r>
            <a:r>
              <a:rPr lang="en-US" err="1"/>
              <a:t>XGBoost</a:t>
            </a:r>
            <a:r>
              <a:rPr lang="en-US"/>
              <a:t> models. Research Review International Journal of Multidisciplinary, 10(11), 299–307.</a:t>
            </a:r>
          </a:p>
          <a:p>
            <a:endParaRPr lang="en-US"/>
          </a:p>
          <a:p>
            <a:r>
              <a:rPr lang="en-IN"/>
              <a:t>[11] Patel, J. A., Prajapati, B. I., &amp; Panchal, V. (2017). Assessment of ambient air quality and air quality index (AQI) in Dahej Area, Gujarat, India. </a:t>
            </a:r>
            <a:r>
              <a:rPr lang="en-IN" i="1"/>
              <a:t>Nature Environment and Pollution Technology</a:t>
            </a:r>
            <a:r>
              <a:rPr lang="en-IN"/>
              <a:t>, </a:t>
            </a:r>
            <a:r>
              <a:rPr lang="en-IN" i="1"/>
              <a:t>16</a:t>
            </a:r>
            <a:r>
              <a:rPr lang="en-IN"/>
              <a:t>(3), 943.</a:t>
            </a:r>
          </a:p>
          <a:p>
            <a:endParaRPr lang="en-IN"/>
          </a:p>
          <a:p>
            <a:r>
              <a:rPr lang="en-US"/>
              <a:t>[12] Kumar, P. (2022). A critical evaluation of air quality index models (1960–2021). </a:t>
            </a:r>
            <a:r>
              <a:rPr lang="en-US" i="1"/>
              <a:t>Environmental Monitoring and Assessment</a:t>
            </a:r>
            <a:r>
              <a:rPr lang="en-US"/>
              <a:t>, </a:t>
            </a:r>
            <a:r>
              <a:rPr lang="en-US" i="1"/>
              <a:t>194</a:t>
            </a:r>
            <a:r>
              <a:rPr lang="en-US"/>
              <a:t>(5), 324.</a:t>
            </a:r>
          </a:p>
          <a:p>
            <a:endParaRPr lang="en-US"/>
          </a:p>
          <a:p>
            <a:r>
              <a:rPr lang="en-US"/>
              <a:t>[13] KUMAR, J. (2013). Assessment of ambient air quality in Northern India using Air Quality Index method. </a:t>
            </a:r>
            <a:r>
              <a:rPr lang="en-US" i="1"/>
              <a:t>Bulletin of Environmental and scientific Research</a:t>
            </a:r>
            <a:r>
              <a:rPr lang="en-US"/>
              <a:t>.</a:t>
            </a:r>
          </a:p>
          <a:p>
            <a:endParaRPr lang="en-IN"/>
          </a:p>
        </p:txBody>
      </p:sp>
    </p:spTree>
    <p:extLst>
      <p:ext uri="{BB962C8B-B14F-4D97-AF65-F5344CB8AC3E}">
        <p14:creationId xmlns:p14="http://schemas.microsoft.com/office/powerpoint/2010/main" val="4117717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1000"/>
              </a:spcBef>
              <a:spcAft>
                <a:spcPts val="0"/>
              </a:spcAft>
              <a:buClr>
                <a:srgbClr val="002060"/>
              </a:buClr>
              <a:buSzPts val="2300"/>
              <a:buFont typeface="Arial"/>
              <a:buChar char="•"/>
            </a:pPr>
            <a:r>
              <a:rPr lang="en-IN" b="1" dirty="0"/>
              <a:t>Research Proposal: </a:t>
            </a:r>
            <a:r>
              <a:rPr lang="en-IN" dirty="0"/>
              <a:t>Propose extending the research into a larger project, securing funding for mass production, or applying the process to different industries. </a:t>
            </a:r>
          </a:p>
          <a:p>
            <a:pPr marL="0" lvl="0" indent="0" algn="just" rtl="0">
              <a:lnSpc>
                <a:spcPct val="90000"/>
              </a:lnSpc>
              <a:spcBef>
                <a:spcPts val="1000"/>
              </a:spcBef>
              <a:spcAft>
                <a:spcPts val="0"/>
              </a:spcAft>
              <a:buClr>
                <a:srgbClr val="002060"/>
              </a:buClr>
              <a:buSzPts val="2300"/>
              <a:buNone/>
            </a:pPr>
            <a:endParaRPr lang="en-IN" dirty="0"/>
          </a:p>
          <a:p>
            <a:pPr marL="228600" lvl="0" indent="-228600" algn="just">
              <a:buSzPts val="2300"/>
            </a:pPr>
            <a:r>
              <a:rPr lang="en-IN" dirty="0"/>
              <a:t>This project contributes as a smaller part of a bigger project being developed by our seniors in 5th and 6th semesters who aim to build a consolidated scalable framework for predictions and preventive method simulations. In general, it encourages data-driven policy design and till some extent, contributes to interdisciplinary research</a:t>
            </a:r>
          </a:p>
          <a:p>
            <a:pPr marL="228600" lvl="0" indent="-228600" algn="just" rtl="0">
              <a:lnSpc>
                <a:spcPct val="90000"/>
              </a:lnSpc>
              <a:spcBef>
                <a:spcPts val="1000"/>
              </a:spcBef>
              <a:spcAft>
                <a:spcPts val="0"/>
              </a:spcAft>
              <a:buClr>
                <a:srgbClr val="002060"/>
              </a:buClr>
              <a:buSzPts val="2300"/>
              <a:buFont typeface="Arial"/>
              <a:buChar char="•"/>
            </a:pPr>
            <a:endParaRPr lang="en-IN" sz="3600" dirty="0"/>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Tuesday, 22 October 2024</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2327</Words>
  <Application>Microsoft Macintosh PowerPoint</Application>
  <PresentationFormat>Widescreen</PresentationFormat>
  <Paragraphs>172</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Shanmukha</dc:creator>
  <cp:lastModifiedBy>Siddhant Agrawal</cp:lastModifiedBy>
  <cp:revision>3</cp:revision>
  <dcterms:created xsi:type="dcterms:W3CDTF">2021-06-02T13:10:21Z</dcterms:created>
  <dcterms:modified xsi:type="dcterms:W3CDTF">2026-04-24T02:24:17Z</dcterms:modified>
</cp:coreProperties>
</file>